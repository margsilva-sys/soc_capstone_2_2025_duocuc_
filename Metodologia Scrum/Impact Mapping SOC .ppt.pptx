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7814" y="238937"/>
            <a:ext cx="33938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/>
              <a:t>Impact Mapping</a:t>
            </a:r>
            <a:r>
              <a:rPr lang="es-CL" sz="2800" b="1" u="sng" dirty="0"/>
              <a:t> SOC</a:t>
            </a:r>
            <a:r>
              <a:rPr sz="2800" b="1" u="sng" dirty="0"/>
              <a:t>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11234" y="1005840"/>
            <a:ext cx="2629609" cy="109728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</a:rPr>
              <a:t>Goal: </a:t>
            </a:r>
            <a:r>
              <a:rPr sz="1800" b="1" dirty="0" err="1">
                <a:solidFill>
                  <a:srgbClr val="FFFFFF"/>
                </a:solidFill>
              </a:rPr>
              <a:t>Morosidad</a:t>
            </a:r>
            <a:r>
              <a:rPr sz="1800" b="1" dirty="0">
                <a:solidFill>
                  <a:srgbClr val="FFFFFF"/>
                </a:solidFill>
              </a:rPr>
              <a:t> ≤ 10% </a:t>
            </a:r>
            <a:r>
              <a:rPr sz="1800" b="1" dirty="0" err="1">
                <a:solidFill>
                  <a:srgbClr val="FFFFFF"/>
                </a:solidFill>
              </a:rPr>
              <a:t>en</a:t>
            </a:r>
            <a:r>
              <a:rPr sz="1800" b="1" dirty="0">
                <a:solidFill>
                  <a:srgbClr val="FFFFFF"/>
                </a:solidFill>
              </a:rPr>
              <a:t> 3 meses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dirty="0"/>
              <a:t>Foco: </a:t>
            </a:r>
            <a:r>
              <a:rPr dirty="0" err="1"/>
              <a:t>pago</a:t>
            </a:r>
            <a:r>
              <a:rPr dirty="0"/>
              <a:t> a </a:t>
            </a:r>
            <a:r>
              <a:rPr dirty="0" err="1"/>
              <a:t>tiempo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137160" y="1082197"/>
            <a:ext cx="2370370" cy="10058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</a:rPr>
              <a:t>Residentes</a:t>
            </a:r>
            <a:endParaRPr lang="es-CL" b="1" dirty="0">
              <a:solidFill>
                <a:srgbClr val="FFFFFF"/>
              </a:solidFill>
            </a:endParaRPr>
          </a:p>
          <a:p>
            <a:pPr algn="ctr"/>
            <a:r>
              <a:rPr dirty="0"/>
              <a:t>Pagan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móvil</a:t>
            </a:r>
            <a:endParaRPr dirty="0"/>
          </a:p>
        </p:txBody>
      </p:sp>
      <p:sp>
        <p:nvSpPr>
          <p:cNvPr id="5" name="Parallelogram 4"/>
          <p:cNvSpPr/>
          <p:nvPr/>
        </p:nvSpPr>
        <p:spPr>
          <a:xfrm>
            <a:off x="6078052" y="1188720"/>
            <a:ext cx="2926080" cy="1005840"/>
          </a:xfrm>
          <a:prstGeom prst="parallelogram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</a:rPr>
              <a:t>Administrador</a:t>
            </a:r>
            <a:endParaRPr sz="1800" b="1" dirty="0">
              <a:solidFill>
                <a:srgbClr val="FFFFFF"/>
              </a:solidFill>
            </a:endParaRP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dirty="0" err="1"/>
              <a:t>Emite</a:t>
            </a:r>
            <a:r>
              <a:rPr dirty="0"/>
              <a:t> / </a:t>
            </a:r>
            <a:r>
              <a:rPr dirty="0" err="1"/>
              <a:t>Concilia</a:t>
            </a:r>
            <a:endParaRPr dirty="0"/>
          </a:p>
        </p:txBody>
      </p:sp>
      <p:sp>
        <p:nvSpPr>
          <p:cNvPr id="6" name="Hexagon 5"/>
          <p:cNvSpPr/>
          <p:nvPr/>
        </p:nvSpPr>
        <p:spPr>
          <a:xfrm>
            <a:off x="3152088" y="2606040"/>
            <a:ext cx="2108303" cy="1005840"/>
          </a:xfrm>
          <a:prstGeom prst="hexagon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Pasarela</a:t>
            </a:r>
            <a:r>
              <a:rPr sz="1200" b="1" dirty="0">
                <a:solidFill>
                  <a:srgbClr val="FFFFFF"/>
                </a:solidFill>
              </a:rPr>
              <a:t> de </a:t>
            </a:r>
            <a:r>
              <a:rPr sz="1200" b="1" dirty="0" err="1">
                <a:solidFill>
                  <a:srgbClr val="FFFFFF"/>
                </a:solidFill>
              </a:rPr>
              <a:t>pago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Retorno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línea</a:t>
            </a:r>
            <a:endParaRPr sz="1200" dirty="0"/>
          </a:p>
        </p:txBody>
      </p:sp>
      <p:cxnSp>
        <p:nvCxnSpPr>
          <p:cNvPr id="7" name="Connector 6"/>
          <p:cNvCxnSpPr>
            <a:cxnSpLocks/>
            <a:stCxn id="4" idx="6"/>
            <a:endCxn id="3" idx="1"/>
          </p:cNvCxnSpPr>
          <p:nvPr/>
        </p:nvCxnSpPr>
        <p:spPr>
          <a:xfrm flipV="1">
            <a:off x="2507530" y="1554480"/>
            <a:ext cx="403704" cy="3063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stCxn id="3" idx="3"/>
            <a:endCxn id="5" idx="5"/>
          </p:cNvCxnSpPr>
          <p:nvPr/>
        </p:nvCxnSpPr>
        <p:spPr>
          <a:xfrm>
            <a:off x="5540843" y="1554480"/>
            <a:ext cx="662939" cy="13716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stCxn id="6" idx="4"/>
            <a:endCxn id="3" idx="2"/>
          </p:cNvCxnSpPr>
          <p:nvPr/>
        </p:nvCxnSpPr>
        <p:spPr>
          <a:xfrm flipV="1">
            <a:off x="3403548" y="2103120"/>
            <a:ext cx="822491" cy="50292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159785" y="2830398"/>
            <a:ext cx="2743200" cy="914400"/>
          </a:xfrm>
          <a:prstGeom prst="diamond">
            <a:avLst/>
          </a:prstGeom>
          <a:solidFill>
            <a:srgbClr val="14B8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Impacto</a:t>
            </a:r>
            <a:endParaRPr lang="es-CL" sz="1100" b="1" dirty="0">
              <a:solidFill>
                <a:srgbClr val="FFFFFF"/>
              </a:solidFill>
            </a:endParaRPr>
          </a:p>
          <a:p>
            <a:pPr algn="ctr"/>
            <a:r>
              <a:rPr sz="1100" dirty="0"/>
              <a:t>Pagan antes del </a:t>
            </a:r>
            <a:r>
              <a:rPr sz="1100" dirty="0" err="1"/>
              <a:t>vencimiento</a:t>
            </a:r>
            <a:endParaRPr sz="1100" dirty="0"/>
          </a:p>
        </p:txBody>
      </p:sp>
      <p:sp>
        <p:nvSpPr>
          <p:cNvPr id="11" name="Diamond 10"/>
          <p:cNvSpPr/>
          <p:nvPr/>
        </p:nvSpPr>
        <p:spPr>
          <a:xfrm>
            <a:off x="6080762" y="3154680"/>
            <a:ext cx="2743200" cy="914400"/>
          </a:xfrm>
          <a:prstGeom prst="diamond">
            <a:avLst/>
          </a:prstGeom>
          <a:solidFill>
            <a:srgbClr val="8B5C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Impacto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Concilia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día</a:t>
            </a:r>
          </a:p>
        </p:txBody>
      </p:sp>
      <p:sp>
        <p:nvSpPr>
          <p:cNvPr id="12" name="Diamond 11"/>
          <p:cNvSpPr/>
          <p:nvPr/>
        </p:nvSpPr>
        <p:spPr>
          <a:xfrm>
            <a:off x="3152088" y="4114800"/>
            <a:ext cx="2743200" cy="914400"/>
          </a:xfrm>
          <a:prstGeom prst="diamond">
            <a:avLst/>
          </a:prstGeom>
          <a:solidFill>
            <a:srgbClr val="EA580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Impacto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Notifica</a:t>
            </a:r>
            <a:r>
              <a:rPr sz="1200" dirty="0"/>
              <a:t> </a:t>
            </a:r>
            <a:r>
              <a:rPr sz="1200" dirty="0" err="1"/>
              <a:t>pago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tiempo</a:t>
            </a:r>
            <a:r>
              <a:rPr sz="1200" dirty="0"/>
              <a:t> real</a:t>
            </a:r>
          </a:p>
        </p:txBody>
      </p:sp>
      <p:cxnSp>
        <p:nvCxnSpPr>
          <p:cNvPr id="13" name="Connector 12"/>
          <p:cNvCxnSpPr>
            <a:cxnSpLocks/>
            <a:stCxn id="4" idx="4"/>
            <a:endCxn id="10" idx="0"/>
          </p:cNvCxnSpPr>
          <p:nvPr/>
        </p:nvCxnSpPr>
        <p:spPr>
          <a:xfrm>
            <a:off x="1322345" y="2088037"/>
            <a:ext cx="209040" cy="742361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5" idx="4"/>
            <a:endCxn id="11" idx="0"/>
          </p:cNvCxnSpPr>
          <p:nvPr/>
        </p:nvCxnSpPr>
        <p:spPr>
          <a:xfrm flipH="1">
            <a:off x="7452362" y="2194560"/>
            <a:ext cx="88730" cy="96012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6" idx="1"/>
            <a:endCxn id="12" idx="0"/>
          </p:cNvCxnSpPr>
          <p:nvPr/>
        </p:nvCxnSpPr>
        <p:spPr>
          <a:xfrm flipH="1">
            <a:off x="4523688" y="3611880"/>
            <a:ext cx="485243" cy="50292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59785" y="4846320"/>
            <a:ext cx="2140531" cy="82296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Deliverable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Boleta</a:t>
            </a:r>
            <a:r>
              <a:rPr sz="1200" dirty="0"/>
              <a:t> con enlace/QR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3646" y="5353953"/>
            <a:ext cx="2560320" cy="822960"/>
          </a:xfrm>
          <a:prstGeom prst="roundRect">
            <a:avLst/>
          </a:prstGeom>
          <a:solidFill>
            <a:srgbClr val="EA580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Deliverable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Panel de recaudación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442" y="5669280"/>
            <a:ext cx="2261372" cy="82296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Deliverable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Estados</a:t>
            </a:r>
            <a:r>
              <a:rPr sz="1200" dirty="0"/>
              <a:t>: </a:t>
            </a:r>
            <a:r>
              <a:rPr sz="1200" dirty="0" err="1"/>
              <a:t>pagada</a:t>
            </a:r>
            <a:r>
              <a:rPr sz="1200" dirty="0"/>
              <a:t>/</a:t>
            </a:r>
            <a:r>
              <a:rPr sz="1200" dirty="0" err="1"/>
              <a:t>pendiente</a:t>
            </a:r>
            <a:endParaRPr sz="1200" dirty="0"/>
          </a:p>
        </p:txBody>
      </p:sp>
      <p:cxnSp>
        <p:nvCxnSpPr>
          <p:cNvPr id="19" name="Connector 18"/>
          <p:cNvCxnSpPr>
            <a:cxnSpLocks/>
            <a:stCxn id="10" idx="2"/>
            <a:endCxn id="16" idx="0"/>
          </p:cNvCxnSpPr>
          <p:nvPr/>
        </p:nvCxnSpPr>
        <p:spPr>
          <a:xfrm flipH="1">
            <a:off x="1230051" y="3744798"/>
            <a:ext cx="301334" cy="1101522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1" idx="2"/>
            <a:endCxn id="17" idx="0"/>
          </p:cNvCxnSpPr>
          <p:nvPr/>
        </p:nvCxnSpPr>
        <p:spPr>
          <a:xfrm>
            <a:off x="7452362" y="4069080"/>
            <a:ext cx="131444" cy="1284873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12" idx="2"/>
            <a:endCxn id="18" idx="0"/>
          </p:cNvCxnSpPr>
          <p:nvPr/>
        </p:nvCxnSpPr>
        <p:spPr>
          <a:xfrm flipH="1">
            <a:off x="4431128" y="5029200"/>
            <a:ext cx="92560" cy="64008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Imagen 71">
            <a:extLst>
              <a:ext uri="{FF2B5EF4-FFF2-40B4-BE49-F238E27FC236}">
                <a16:creationId xmlns:a16="http://schemas.microsoft.com/office/drawing/2014/main" id="{2FA3AFFA-3F3F-4BFD-B8B5-F11081819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459" y="109086"/>
            <a:ext cx="1784240" cy="437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</Words>
  <Application>Microsoft Office PowerPoint</Application>
  <PresentationFormat>Presentación en pantalla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ISRAEL MUÑOZ</dc:creator>
  <cp:keywords/>
  <dc:description>generated using python-pptx</dc:description>
  <cp:lastModifiedBy>ISRAEL MUÑOZ</cp:lastModifiedBy>
  <cp:revision>3</cp:revision>
  <dcterms:created xsi:type="dcterms:W3CDTF">2013-01-27T09:14:16Z</dcterms:created>
  <dcterms:modified xsi:type="dcterms:W3CDTF">2025-10-12T18:15:14Z</dcterms:modified>
  <cp:category/>
</cp:coreProperties>
</file>