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-86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69757" y="333377"/>
            <a:ext cx="494686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CL" sz="2600" b="1" u="sng" dirty="0"/>
              <a:t>Proyecto SOC  </a:t>
            </a:r>
            <a:r>
              <a:rPr sz="2600" b="1" u="sng" dirty="0"/>
              <a:t>User Story Mapping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62128" y="1257300"/>
            <a:ext cx="1097280" cy="457200"/>
          </a:xfrm>
          <a:prstGeom prst="roundRect">
            <a:avLst/>
          </a:prstGeom>
          <a:solidFill>
            <a:srgbClr val="37415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</a:rPr>
              <a:t>Backbone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2128" y="2171700"/>
            <a:ext cx="1097280" cy="457200"/>
          </a:xfrm>
          <a:prstGeom prst="roundRect">
            <a:avLst/>
          </a:prstGeom>
          <a:solidFill>
            <a:srgbClr val="37415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MVP (S1–S2)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2128" y="3268980"/>
            <a:ext cx="1097280" cy="457200"/>
          </a:xfrm>
          <a:prstGeom prst="roundRect">
            <a:avLst/>
          </a:prstGeom>
          <a:solidFill>
            <a:srgbClr val="37415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Release 2 (S3)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2128" y="4366260"/>
            <a:ext cx="1097280" cy="457200"/>
          </a:xfrm>
          <a:prstGeom prst="roundRect">
            <a:avLst/>
          </a:prstGeom>
          <a:solidFill>
            <a:srgbClr val="37415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Release 3 (S4)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42288" y="1257300"/>
            <a:ext cx="1280160" cy="457200"/>
          </a:xfrm>
          <a:prstGeom prst="roundRect">
            <a:avLst/>
          </a:prstGeom>
          <a:solidFill>
            <a:srgbClr val="1F29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Registrar comunidad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87040" y="1257300"/>
            <a:ext cx="1280160" cy="457200"/>
          </a:xfrm>
          <a:prstGeom prst="roundRect">
            <a:avLst/>
          </a:prstGeom>
          <a:solidFill>
            <a:srgbClr val="1F29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dirty="0" err="1">
                <a:solidFill>
                  <a:srgbClr val="FFFFFF"/>
                </a:solidFill>
              </a:rPr>
              <a:t>Configurar</a:t>
            </a:r>
            <a:r>
              <a:rPr sz="1100" b="1" dirty="0">
                <a:solidFill>
                  <a:srgbClr val="FFFFFF"/>
                </a:solidFill>
              </a:rPr>
              <a:t> </a:t>
            </a:r>
            <a:r>
              <a:rPr sz="1100" b="1" dirty="0" err="1">
                <a:solidFill>
                  <a:srgbClr val="FFFFFF"/>
                </a:solidFill>
              </a:rPr>
              <a:t>edificio</a:t>
            </a:r>
            <a:r>
              <a:rPr sz="1100" b="1" dirty="0">
                <a:solidFill>
                  <a:srgbClr val="FFFFFF"/>
                </a:solidFill>
              </a:rPr>
              <a:t>/</a:t>
            </a:r>
            <a:r>
              <a:rPr sz="1100" b="1" dirty="0" err="1">
                <a:solidFill>
                  <a:srgbClr val="FFFFFF"/>
                </a:solidFill>
              </a:rPr>
              <a:t>unidades</a:t>
            </a:r>
            <a:endParaRPr sz="1100" b="1" dirty="0">
              <a:solidFill>
                <a:srgbClr val="FFFFFF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431792" y="1257300"/>
            <a:ext cx="1280160" cy="457200"/>
          </a:xfrm>
          <a:prstGeom prst="roundRect">
            <a:avLst/>
          </a:prstGeom>
          <a:solidFill>
            <a:srgbClr val="1F29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Registrar residentes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76544" y="1257300"/>
            <a:ext cx="1280160" cy="457200"/>
          </a:xfrm>
          <a:prstGeom prst="roundRect">
            <a:avLst/>
          </a:prstGeom>
          <a:solidFill>
            <a:srgbClr val="1F29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Calcular GGCC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21296" y="1257300"/>
            <a:ext cx="1280160" cy="457200"/>
          </a:xfrm>
          <a:prstGeom prst="roundRect">
            <a:avLst/>
          </a:prstGeom>
          <a:solidFill>
            <a:srgbClr val="1F29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Emitir y notificar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66048" y="1257300"/>
            <a:ext cx="1280160" cy="457200"/>
          </a:xfrm>
          <a:prstGeom prst="roundRect">
            <a:avLst/>
          </a:prstGeom>
          <a:solidFill>
            <a:srgbClr val="1F29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Pago en línea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10800" y="1242060"/>
            <a:ext cx="1280160" cy="457200"/>
          </a:xfrm>
          <a:prstGeom prst="roundRect">
            <a:avLst/>
          </a:prstGeom>
          <a:solidFill>
            <a:srgbClr val="1F29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 err="1">
                <a:solidFill>
                  <a:srgbClr val="FFFFFF"/>
                </a:solidFill>
              </a:rPr>
              <a:t>Conciliación</a:t>
            </a:r>
            <a:r>
              <a:rPr sz="1300" b="1" dirty="0">
                <a:solidFill>
                  <a:srgbClr val="FFFFFF"/>
                </a:solidFill>
              </a:rPr>
              <a:t> y </a:t>
            </a:r>
            <a:r>
              <a:rPr sz="1300" b="1" dirty="0" err="1">
                <a:solidFill>
                  <a:srgbClr val="FFFFFF"/>
                </a:solidFill>
              </a:rPr>
              <a:t>reporte</a:t>
            </a:r>
            <a:endParaRPr sz="1300" b="1" dirty="0">
              <a:solidFill>
                <a:srgbClr val="FFFFFF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542288" y="2171700"/>
            <a:ext cx="1280160" cy="777240"/>
          </a:xfrm>
          <a:prstGeom prst="rect">
            <a:avLst/>
          </a:prstGeom>
          <a:solidFill>
            <a:srgbClr val="BBF7D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000" b="1" dirty="0">
                <a:solidFill>
                  <a:srgbClr val="000000"/>
                </a:solidFill>
              </a:rPr>
              <a:t>Crear </a:t>
            </a:r>
            <a:r>
              <a:rPr sz="1000" b="1" dirty="0" err="1">
                <a:solidFill>
                  <a:srgbClr val="000000"/>
                </a:solidFill>
              </a:rPr>
              <a:t>comunidad</a:t>
            </a:r>
            <a:endParaRPr sz="1000" b="1" dirty="0">
              <a:solidFill>
                <a:srgbClr val="000000"/>
              </a:solidFill>
            </a:endParaRPr>
          </a:p>
          <a:p>
            <a:pPr lvl="1" algn="r">
              <a:defRPr sz="1100">
                <a:solidFill>
                  <a:srgbClr val="000000"/>
                </a:solidFill>
              </a:defRPr>
            </a:pPr>
            <a:r>
              <a:rPr sz="1000" dirty="0"/>
              <a:t>Datos </a:t>
            </a:r>
            <a:r>
              <a:rPr sz="1000" dirty="0" err="1"/>
              <a:t>mínimos</a:t>
            </a:r>
            <a:r>
              <a:rPr sz="1000" dirty="0"/>
              <a:t> y </a:t>
            </a:r>
            <a:r>
              <a:rPr sz="1000" dirty="0" err="1"/>
              <a:t>guardado</a:t>
            </a:r>
            <a:endParaRPr sz="1000" dirty="0"/>
          </a:p>
        </p:txBody>
      </p:sp>
      <p:sp>
        <p:nvSpPr>
          <p:cNvPr id="15" name="Rectangle 14"/>
          <p:cNvSpPr/>
          <p:nvPr/>
        </p:nvSpPr>
        <p:spPr>
          <a:xfrm>
            <a:off x="2987040" y="2171700"/>
            <a:ext cx="1280160" cy="777240"/>
          </a:xfrm>
          <a:prstGeom prst="rect">
            <a:avLst/>
          </a:prstGeom>
          <a:solidFill>
            <a:srgbClr val="BBF7D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000" b="1">
                <a:solidFill>
                  <a:srgbClr val="000000"/>
                </a:solidFill>
              </a:rPr>
              <a:t>Crear edificio y unidades</a:t>
            </a:r>
          </a:p>
          <a:p>
            <a:pPr lvl="1" algn="r">
              <a:defRPr sz="1100">
                <a:solidFill>
                  <a:srgbClr val="000000"/>
                </a:solidFill>
              </a:defRPr>
            </a:pPr>
            <a:r>
              <a:rPr sz="1000"/>
              <a:t>Al menos 5 unidades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13504" y="2179320"/>
            <a:ext cx="1280160" cy="777240"/>
          </a:xfrm>
          <a:prstGeom prst="rect">
            <a:avLst/>
          </a:prstGeom>
          <a:solidFill>
            <a:srgbClr val="BBF7D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000" b="1" dirty="0">
                <a:solidFill>
                  <a:srgbClr val="000000"/>
                </a:solidFill>
              </a:rPr>
              <a:t>Registrar </a:t>
            </a:r>
            <a:r>
              <a:rPr sz="1000" b="1" dirty="0" err="1">
                <a:solidFill>
                  <a:srgbClr val="000000"/>
                </a:solidFill>
              </a:rPr>
              <a:t>residentes</a:t>
            </a:r>
            <a:endParaRPr sz="1000" b="1" dirty="0">
              <a:solidFill>
                <a:srgbClr val="000000"/>
              </a:solidFill>
            </a:endParaRPr>
          </a:p>
          <a:p>
            <a:pPr lvl="1" algn="r">
              <a:defRPr sz="1100">
                <a:solidFill>
                  <a:srgbClr val="000000"/>
                </a:solidFill>
              </a:defRPr>
            </a:pPr>
            <a:r>
              <a:rPr sz="1000" dirty="0"/>
              <a:t>Asociados a </a:t>
            </a:r>
            <a:r>
              <a:rPr sz="1000" dirty="0" err="1"/>
              <a:t>su</a:t>
            </a:r>
            <a:r>
              <a:rPr sz="1000" dirty="0"/>
              <a:t> </a:t>
            </a:r>
            <a:r>
              <a:rPr sz="1000" dirty="0" err="1"/>
              <a:t>unidad</a:t>
            </a:r>
            <a:endParaRPr sz="1000" dirty="0"/>
          </a:p>
        </p:txBody>
      </p:sp>
      <p:sp>
        <p:nvSpPr>
          <p:cNvPr id="17" name="Rectangle 16"/>
          <p:cNvSpPr/>
          <p:nvPr/>
        </p:nvSpPr>
        <p:spPr>
          <a:xfrm>
            <a:off x="5876544" y="2171700"/>
            <a:ext cx="1280160" cy="777240"/>
          </a:xfrm>
          <a:prstGeom prst="rect">
            <a:avLst/>
          </a:prstGeom>
          <a:solidFill>
            <a:srgbClr val="BBF7D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000" b="1">
                <a:solidFill>
                  <a:srgbClr val="000000"/>
                </a:solidFill>
              </a:rPr>
              <a:t>Calcular mes</a:t>
            </a:r>
          </a:p>
          <a:p>
            <a:pPr lvl="1" algn="r">
              <a:defRPr sz="1100">
                <a:solidFill>
                  <a:srgbClr val="000000"/>
                </a:solidFill>
              </a:defRPr>
            </a:pPr>
            <a:r>
              <a:rPr sz="1000"/>
              <a:t>Parámetros básicos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21296" y="2171700"/>
            <a:ext cx="1280160" cy="777240"/>
          </a:xfrm>
          <a:prstGeom prst="rect">
            <a:avLst/>
          </a:prstGeom>
          <a:solidFill>
            <a:srgbClr val="BBF7D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000" b="1">
                <a:solidFill>
                  <a:srgbClr val="000000"/>
                </a:solidFill>
              </a:rPr>
              <a:t>Emitir boletas</a:t>
            </a:r>
          </a:p>
          <a:p>
            <a:pPr lvl="1" algn="r">
              <a:defRPr sz="1100">
                <a:solidFill>
                  <a:srgbClr val="000000"/>
                </a:solidFill>
              </a:defRPr>
            </a:pPr>
            <a:r>
              <a:rPr sz="1000"/>
              <a:t>Notificación simple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66048" y="2171700"/>
            <a:ext cx="1280160" cy="777240"/>
          </a:xfrm>
          <a:prstGeom prst="rect">
            <a:avLst/>
          </a:prstGeom>
          <a:solidFill>
            <a:srgbClr val="BBF7D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000" b="1" dirty="0">
                <a:solidFill>
                  <a:srgbClr val="000000"/>
                </a:solidFill>
              </a:rPr>
              <a:t>Pago de </a:t>
            </a:r>
            <a:r>
              <a:rPr sz="1000" b="1" dirty="0" err="1">
                <a:solidFill>
                  <a:srgbClr val="000000"/>
                </a:solidFill>
              </a:rPr>
              <a:t>prueba</a:t>
            </a:r>
            <a:endParaRPr sz="1000" b="1" dirty="0">
              <a:solidFill>
                <a:srgbClr val="000000"/>
              </a:solidFill>
            </a:endParaRPr>
          </a:p>
          <a:p>
            <a:pPr lvl="1" algn="r">
              <a:defRPr sz="1100">
                <a:solidFill>
                  <a:srgbClr val="000000"/>
                </a:solidFill>
              </a:defRPr>
            </a:pPr>
            <a:r>
              <a:rPr sz="1000" dirty="0"/>
              <a:t>Estado </a:t>
            </a:r>
            <a:r>
              <a:rPr sz="1000" dirty="0" err="1"/>
              <a:t>pagada</a:t>
            </a:r>
            <a:r>
              <a:rPr sz="1000" dirty="0"/>
              <a:t>/</a:t>
            </a:r>
            <a:endParaRPr lang="es-CL" sz="1000" dirty="0"/>
          </a:p>
          <a:p>
            <a:pPr lvl="1" algn="r">
              <a:defRPr sz="1100">
                <a:solidFill>
                  <a:srgbClr val="000000"/>
                </a:solidFill>
              </a:defRPr>
            </a:pPr>
            <a:r>
              <a:rPr sz="1000" dirty="0" err="1"/>
              <a:t>pendiente</a:t>
            </a:r>
            <a:endParaRPr sz="1000" dirty="0"/>
          </a:p>
        </p:txBody>
      </p:sp>
      <p:sp>
        <p:nvSpPr>
          <p:cNvPr id="20" name="Rectangle 19"/>
          <p:cNvSpPr/>
          <p:nvPr/>
        </p:nvSpPr>
        <p:spPr>
          <a:xfrm>
            <a:off x="10210800" y="2156460"/>
            <a:ext cx="1280160" cy="777240"/>
          </a:xfrm>
          <a:prstGeom prst="rect">
            <a:avLst/>
          </a:prstGeom>
          <a:solidFill>
            <a:srgbClr val="BBF7D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000" b="1">
                <a:solidFill>
                  <a:srgbClr val="000000"/>
                </a:solidFill>
              </a:rPr>
              <a:t>Resumen mensual</a:t>
            </a:r>
          </a:p>
          <a:p>
            <a:pPr lvl="1" algn="r">
              <a:defRPr sz="1100">
                <a:solidFill>
                  <a:srgbClr val="000000"/>
                </a:solidFill>
              </a:defRPr>
            </a:pPr>
            <a:r>
              <a:rPr sz="1000"/>
              <a:t>Recaudado vs. pendiente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42288" y="3268980"/>
            <a:ext cx="1280160" cy="777240"/>
          </a:xfrm>
          <a:prstGeom prst="rect">
            <a:avLst/>
          </a:prstGeom>
          <a:solidFill>
            <a:srgbClr val="BFDB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000" b="1" dirty="0" err="1">
                <a:solidFill>
                  <a:srgbClr val="000000"/>
                </a:solidFill>
              </a:rPr>
              <a:t>Editar</a:t>
            </a:r>
            <a:r>
              <a:rPr sz="1000" b="1" dirty="0">
                <a:solidFill>
                  <a:srgbClr val="000000"/>
                </a:solidFill>
              </a:rPr>
              <a:t> </a:t>
            </a:r>
            <a:r>
              <a:rPr sz="1000" b="1" dirty="0" err="1">
                <a:solidFill>
                  <a:srgbClr val="000000"/>
                </a:solidFill>
              </a:rPr>
              <a:t>comunidad</a:t>
            </a:r>
            <a:endParaRPr lang="es-CL" sz="1000" b="1" dirty="0">
              <a:solidFill>
                <a:srgbClr val="000000"/>
              </a:solidFill>
            </a:endParaRPr>
          </a:p>
          <a:p>
            <a:pPr lvl="1" algn="r">
              <a:defRPr sz="1100">
                <a:solidFill>
                  <a:srgbClr val="000000"/>
                </a:solidFill>
              </a:defRPr>
            </a:pPr>
            <a:r>
              <a:rPr lang="es-CL" sz="1000" dirty="0"/>
              <a:t>Actualiza</a:t>
            </a:r>
            <a:r>
              <a:rPr sz="1000" dirty="0"/>
              <a:t>r/</a:t>
            </a:r>
            <a:endParaRPr lang="es-CL" sz="1000" dirty="0"/>
          </a:p>
          <a:p>
            <a:pPr lvl="1" algn="r">
              <a:defRPr sz="1100">
                <a:solidFill>
                  <a:srgbClr val="000000"/>
                </a:solidFill>
              </a:defRPr>
            </a:pPr>
            <a:r>
              <a:rPr sz="1000" dirty="0" err="1"/>
              <a:t>eliminar</a:t>
            </a:r>
            <a:endParaRPr sz="1000" dirty="0"/>
          </a:p>
        </p:txBody>
      </p:sp>
      <p:sp>
        <p:nvSpPr>
          <p:cNvPr id="22" name="Rectangle 21"/>
          <p:cNvSpPr/>
          <p:nvPr/>
        </p:nvSpPr>
        <p:spPr>
          <a:xfrm>
            <a:off x="2987040" y="3268980"/>
            <a:ext cx="1280160" cy="777240"/>
          </a:xfrm>
          <a:prstGeom prst="rect">
            <a:avLst/>
          </a:prstGeom>
          <a:solidFill>
            <a:srgbClr val="BFDB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000" b="1">
                <a:solidFill>
                  <a:srgbClr val="000000"/>
                </a:solidFill>
              </a:rPr>
              <a:t>Gestión de unidades</a:t>
            </a:r>
          </a:p>
          <a:p>
            <a:pPr lvl="1" algn="r">
              <a:defRPr sz="1100">
                <a:solidFill>
                  <a:srgbClr val="000000"/>
                </a:solidFill>
              </a:defRPr>
            </a:pPr>
            <a:r>
              <a:rPr sz="1000"/>
              <a:t>Edición básica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1792" y="3268980"/>
            <a:ext cx="1280160" cy="777240"/>
          </a:xfrm>
          <a:prstGeom prst="rect">
            <a:avLst/>
          </a:prstGeom>
          <a:solidFill>
            <a:srgbClr val="BFDB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000" b="1" dirty="0" err="1">
                <a:solidFill>
                  <a:srgbClr val="000000"/>
                </a:solidFill>
              </a:rPr>
              <a:t>Actualizar</a:t>
            </a:r>
            <a:r>
              <a:rPr sz="1000" b="1" dirty="0">
                <a:solidFill>
                  <a:srgbClr val="000000"/>
                </a:solidFill>
              </a:rPr>
              <a:t> </a:t>
            </a:r>
            <a:r>
              <a:rPr sz="1000" b="1" dirty="0" err="1">
                <a:solidFill>
                  <a:srgbClr val="000000"/>
                </a:solidFill>
              </a:rPr>
              <a:t>residentes</a:t>
            </a:r>
            <a:endParaRPr lang="es-CL" sz="1000" b="1" dirty="0">
              <a:solidFill>
                <a:srgbClr val="000000"/>
              </a:solidFill>
            </a:endParaRPr>
          </a:p>
          <a:p>
            <a:pPr algn="r"/>
            <a:r>
              <a:rPr sz="1000" dirty="0" err="1">
                <a:solidFill>
                  <a:schemeClr val="tx1"/>
                </a:solidFill>
              </a:rPr>
              <a:t>Inactivar</a:t>
            </a:r>
            <a:r>
              <a:rPr sz="1000" dirty="0">
                <a:solidFill>
                  <a:schemeClr val="tx1"/>
                </a:solidFill>
              </a:rPr>
              <a:t>/e</a:t>
            </a:r>
            <a:r>
              <a:rPr lang="es-CL" sz="1000" dirty="0">
                <a:solidFill>
                  <a:schemeClr val="tx1"/>
                </a:solidFill>
              </a:rPr>
              <a:t>v</a:t>
            </a:r>
            <a:r>
              <a:rPr sz="1000" dirty="0" err="1">
                <a:solidFill>
                  <a:schemeClr val="tx1"/>
                </a:solidFill>
              </a:rPr>
              <a:t>itar</a:t>
            </a:r>
            <a:r>
              <a:rPr sz="1000" dirty="0">
                <a:solidFill>
                  <a:schemeClr val="tx1"/>
                </a:solidFill>
              </a:rPr>
              <a:t> </a:t>
            </a:r>
            <a:r>
              <a:rPr sz="1000" dirty="0" err="1">
                <a:solidFill>
                  <a:schemeClr val="tx1"/>
                </a:solidFill>
              </a:rPr>
              <a:t>duplicados</a:t>
            </a:r>
            <a:endParaRPr sz="1000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876544" y="3268980"/>
            <a:ext cx="1280160" cy="777240"/>
          </a:xfrm>
          <a:prstGeom prst="rect">
            <a:avLst/>
          </a:prstGeom>
          <a:solidFill>
            <a:srgbClr val="BFDB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000" b="1">
                <a:solidFill>
                  <a:srgbClr val="000000"/>
                </a:solidFill>
              </a:rPr>
              <a:t>Ajustes/Multas</a:t>
            </a:r>
          </a:p>
          <a:p>
            <a:pPr lvl="1" algn="r">
              <a:defRPr sz="1100">
                <a:solidFill>
                  <a:srgbClr val="000000"/>
                </a:solidFill>
              </a:defRPr>
            </a:pPr>
            <a:r>
              <a:rPr sz="1000"/>
              <a:t>Aplicación simple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21296" y="3268980"/>
            <a:ext cx="1280160" cy="777240"/>
          </a:xfrm>
          <a:prstGeom prst="rect">
            <a:avLst/>
          </a:prstGeom>
          <a:solidFill>
            <a:srgbClr val="BFDB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000" b="1">
                <a:solidFill>
                  <a:srgbClr val="000000"/>
                </a:solidFill>
              </a:rPr>
              <a:t>2º recordatorio</a:t>
            </a:r>
          </a:p>
          <a:p>
            <a:pPr lvl="1" algn="r">
              <a:defRPr sz="1100">
                <a:solidFill>
                  <a:srgbClr val="000000"/>
                </a:solidFill>
              </a:defRPr>
            </a:pPr>
            <a:r>
              <a:rPr sz="1000"/>
              <a:t>Antes del vencimiento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66048" y="3268980"/>
            <a:ext cx="1280160" cy="777240"/>
          </a:xfrm>
          <a:prstGeom prst="rect">
            <a:avLst/>
          </a:prstGeom>
          <a:solidFill>
            <a:srgbClr val="BFDB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000" b="1">
                <a:solidFill>
                  <a:srgbClr val="000000"/>
                </a:solidFill>
              </a:rPr>
              <a:t>Comprobante</a:t>
            </a:r>
          </a:p>
          <a:p>
            <a:pPr lvl="1" algn="r">
              <a:defRPr sz="1100">
                <a:solidFill>
                  <a:srgbClr val="000000"/>
                </a:solidFill>
              </a:defRPr>
            </a:pPr>
            <a:r>
              <a:rPr sz="1000"/>
              <a:t>Descarga del pago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10800" y="3253740"/>
            <a:ext cx="1280160" cy="777240"/>
          </a:xfrm>
          <a:prstGeom prst="rect">
            <a:avLst/>
          </a:prstGeom>
          <a:solidFill>
            <a:srgbClr val="BFDB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000" b="1">
                <a:solidFill>
                  <a:srgbClr val="000000"/>
                </a:solidFill>
              </a:rPr>
              <a:t>Exportación</a:t>
            </a:r>
          </a:p>
          <a:p>
            <a:pPr lvl="1" algn="r">
              <a:defRPr sz="1100">
                <a:solidFill>
                  <a:srgbClr val="000000"/>
                </a:solidFill>
              </a:defRPr>
            </a:pPr>
            <a:r>
              <a:rPr sz="1000"/>
              <a:t>CSV/PDF simple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42288" y="4366260"/>
            <a:ext cx="1280160" cy="777240"/>
          </a:xfrm>
          <a:prstGeom prst="rect">
            <a:avLst/>
          </a:prstGeom>
          <a:solidFill>
            <a:srgbClr val="DDD6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000" b="1">
                <a:solidFill>
                  <a:srgbClr val="000000"/>
                </a:solidFill>
              </a:rPr>
              <a:t>Parámetros avanzados</a:t>
            </a:r>
          </a:p>
          <a:p>
            <a:pPr lvl="1" algn="r">
              <a:defRPr sz="1100">
                <a:solidFill>
                  <a:srgbClr val="000000"/>
                </a:solidFill>
              </a:defRPr>
            </a:pPr>
            <a:r>
              <a:rPr sz="1000"/>
              <a:t>Plantillas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87040" y="4366260"/>
            <a:ext cx="1280160" cy="777240"/>
          </a:xfrm>
          <a:prstGeom prst="rect">
            <a:avLst/>
          </a:prstGeom>
          <a:solidFill>
            <a:srgbClr val="DDD6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000" b="1">
                <a:solidFill>
                  <a:srgbClr val="000000"/>
                </a:solidFill>
              </a:rPr>
              <a:t>Estacionamientos/bodegas</a:t>
            </a:r>
          </a:p>
          <a:p>
            <a:pPr lvl="1" algn="r">
              <a:defRPr sz="1100">
                <a:solidFill>
                  <a:srgbClr val="000000"/>
                </a:solidFill>
              </a:defRPr>
            </a:pPr>
            <a:r>
              <a:rPr sz="1000"/>
              <a:t>Asociación por unidad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31792" y="4366260"/>
            <a:ext cx="1280160" cy="777240"/>
          </a:xfrm>
          <a:prstGeom prst="rect">
            <a:avLst/>
          </a:prstGeom>
          <a:solidFill>
            <a:srgbClr val="DDD6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000" b="1" dirty="0">
                <a:solidFill>
                  <a:srgbClr val="000000"/>
                </a:solidFill>
              </a:rPr>
              <a:t>Portal </a:t>
            </a:r>
            <a:r>
              <a:rPr sz="1000" b="1" dirty="0" err="1">
                <a:solidFill>
                  <a:srgbClr val="000000"/>
                </a:solidFill>
              </a:rPr>
              <a:t>autoservicio</a:t>
            </a:r>
            <a:endParaRPr lang="es-CL" sz="1000" b="1" dirty="0">
              <a:solidFill>
                <a:srgbClr val="000000"/>
              </a:solidFill>
            </a:endParaRPr>
          </a:p>
          <a:p>
            <a:pPr algn="r"/>
            <a:r>
              <a:rPr sz="1000" dirty="0" err="1">
                <a:solidFill>
                  <a:schemeClr val="tx1"/>
                </a:solidFill>
              </a:rPr>
              <a:t>Actualizaci</a:t>
            </a:r>
            <a:r>
              <a:rPr lang="es-CL" sz="1000" dirty="0">
                <a:solidFill>
                  <a:schemeClr val="tx1"/>
                </a:solidFill>
              </a:rPr>
              <a:t>o</a:t>
            </a:r>
            <a:r>
              <a:rPr sz="1000" dirty="0">
                <a:solidFill>
                  <a:schemeClr val="tx1"/>
                </a:solidFill>
              </a:rPr>
              <a:t>n </a:t>
            </a:r>
            <a:r>
              <a:rPr sz="1000" dirty="0" err="1">
                <a:solidFill>
                  <a:schemeClr val="tx1"/>
                </a:solidFill>
              </a:rPr>
              <a:t>por</a:t>
            </a:r>
            <a:endParaRPr lang="es-CL" sz="1000" dirty="0">
              <a:solidFill>
                <a:schemeClr val="tx1"/>
              </a:solidFill>
            </a:endParaRPr>
          </a:p>
          <a:p>
            <a:pPr lvl="1" algn="r">
              <a:defRPr sz="1100">
                <a:solidFill>
                  <a:srgbClr val="000000"/>
                </a:solidFill>
              </a:defRPr>
            </a:pPr>
            <a:r>
              <a:rPr sz="1000" dirty="0" err="1">
                <a:solidFill>
                  <a:schemeClr val="tx1"/>
                </a:solidFill>
              </a:rPr>
              <a:t>residente</a:t>
            </a:r>
            <a:endParaRPr sz="1000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876544" y="4366260"/>
            <a:ext cx="1280160" cy="777240"/>
          </a:xfrm>
          <a:prstGeom prst="rect">
            <a:avLst/>
          </a:prstGeom>
          <a:solidFill>
            <a:srgbClr val="DDD6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000" b="1">
                <a:solidFill>
                  <a:srgbClr val="000000"/>
                </a:solidFill>
              </a:rPr>
              <a:t>Prorrateos avanzados</a:t>
            </a:r>
          </a:p>
          <a:p>
            <a:pPr lvl="1" algn="r">
              <a:defRPr sz="1100">
                <a:solidFill>
                  <a:srgbClr val="000000"/>
                </a:solidFill>
              </a:defRPr>
            </a:pPr>
            <a:r>
              <a:rPr sz="1000"/>
              <a:t>Reglas simples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21296" y="4366260"/>
            <a:ext cx="1280160" cy="777240"/>
          </a:xfrm>
          <a:prstGeom prst="rect">
            <a:avLst/>
          </a:prstGeom>
          <a:solidFill>
            <a:srgbClr val="DDD6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000" b="1" dirty="0" err="1">
                <a:solidFill>
                  <a:srgbClr val="000000"/>
                </a:solidFill>
              </a:rPr>
              <a:t>Notificaciones</a:t>
            </a:r>
            <a:r>
              <a:rPr sz="1000" b="1" dirty="0">
                <a:solidFill>
                  <a:srgbClr val="000000"/>
                </a:solidFill>
              </a:rPr>
              <a:t> </a:t>
            </a:r>
            <a:r>
              <a:rPr sz="1000" b="1" dirty="0" err="1">
                <a:solidFill>
                  <a:srgbClr val="000000"/>
                </a:solidFill>
              </a:rPr>
              <a:t>segmentadas</a:t>
            </a:r>
            <a:endParaRPr sz="1000" b="1" dirty="0">
              <a:solidFill>
                <a:srgbClr val="000000"/>
              </a:solidFill>
            </a:endParaRPr>
          </a:p>
          <a:p>
            <a:pPr lvl="1" algn="r">
              <a:defRPr sz="1100">
                <a:solidFill>
                  <a:srgbClr val="000000"/>
                </a:solidFill>
              </a:defRPr>
            </a:pPr>
            <a:r>
              <a:rPr sz="1000" dirty="0" err="1"/>
              <a:t>Listas</a:t>
            </a:r>
            <a:r>
              <a:rPr sz="1000" dirty="0"/>
              <a:t>/</a:t>
            </a:r>
            <a:endParaRPr lang="es-CL" sz="1000" dirty="0"/>
          </a:p>
          <a:p>
            <a:pPr lvl="1" algn="r">
              <a:defRPr sz="1100">
                <a:solidFill>
                  <a:srgbClr val="000000"/>
                </a:solidFill>
              </a:defRPr>
            </a:pPr>
            <a:r>
              <a:rPr sz="1000" dirty="0" err="1"/>
              <a:t>plantillas</a:t>
            </a:r>
            <a:endParaRPr sz="1000" dirty="0"/>
          </a:p>
        </p:txBody>
      </p:sp>
      <p:sp>
        <p:nvSpPr>
          <p:cNvPr id="33" name="Rectangle 32"/>
          <p:cNvSpPr/>
          <p:nvPr/>
        </p:nvSpPr>
        <p:spPr>
          <a:xfrm>
            <a:off x="8766048" y="4366260"/>
            <a:ext cx="1280160" cy="777240"/>
          </a:xfrm>
          <a:prstGeom prst="rect">
            <a:avLst/>
          </a:prstGeom>
          <a:solidFill>
            <a:srgbClr val="DDD6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000" b="1">
                <a:solidFill>
                  <a:srgbClr val="000000"/>
                </a:solidFill>
              </a:rPr>
              <a:t>Métodos alternativos</a:t>
            </a:r>
          </a:p>
          <a:p>
            <a:pPr lvl="1" algn="r">
              <a:defRPr sz="1100">
                <a:solidFill>
                  <a:srgbClr val="000000"/>
                </a:solidFill>
              </a:defRPr>
            </a:pPr>
            <a:r>
              <a:rPr sz="1000"/>
              <a:t>Opciones adicionales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210800" y="4351020"/>
            <a:ext cx="1280160" cy="777240"/>
          </a:xfrm>
          <a:prstGeom prst="rect">
            <a:avLst/>
          </a:prstGeom>
          <a:solidFill>
            <a:srgbClr val="DDD6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000" b="1" dirty="0">
                <a:solidFill>
                  <a:srgbClr val="000000"/>
                </a:solidFill>
              </a:rPr>
              <a:t>Dashboard con </a:t>
            </a:r>
            <a:r>
              <a:rPr sz="1000" b="1" dirty="0" err="1">
                <a:solidFill>
                  <a:srgbClr val="000000"/>
                </a:solidFill>
              </a:rPr>
              <a:t>filtros</a:t>
            </a:r>
            <a:endParaRPr sz="1000" b="1" dirty="0">
              <a:solidFill>
                <a:srgbClr val="000000"/>
              </a:solidFill>
            </a:endParaRPr>
          </a:p>
          <a:p>
            <a:pPr lvl="1" algn="r">
              <a:defRPr sz="1100">
                <a:solidFill>
                  <a:srgbClr val="000000"/>
                </a:solidFill>
              </a:defRPr>
            </a:pPr>
            <a:r>
              <a:rPr sz="1000" dirty="0"/>
              <a:t>Mes/</a:t>
            </a:r>
            <a:endParaRPr lang="es-CL" sz="1000" dirty="0"/>
          </a:p>
          <a:p>
            <a:pPr lvl="1" algn="r">
              <a:defRPr sz="1100">
                <a:solidFill>
                  <a:srgbClr val="000000"/>
                </a:solidFill>
              </a:defRPr>
            </a:pPr>
            <a:r>
              <a:rPr sz="1000" dirty="0" err="1"/>
              <a:t>comunidad</a:t>
            </a:r>
            <a:endParaRPr sz="1000" dirty="0"/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EB158E35-3089-A5A1-B689-18C02FC29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4126" y="225742"/>
            <a:ext cx="1784240" cy="4371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155</Words>
  <Application>Microsoft Office PowerPoint</Application>
  <PresentationFormat>Panorámica</PresentationFormat>
  <Paragraphs>59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ISRAEL MUÑOZ</dc:creator>
  <cp:keywords/>
  <dc:description>generated using python-pptx</dc:description>
  <cp:lastModifiedBy>ISRAEL MUÑOZ</cp:lastModifiedBy>
  <cp:revision>3</cp:revision>
  <dcterms:created xsi:type="dcterms:W3CDTF">2013-01-27T09:14:16Z</dcterms:created>
  <dcterms:modified xsi:type="dcterms:W3CDTF">2025-10-12T18:31:17Z</dcterms:modified>
  <cp:category/>
</cp:coreProperties>
</file>