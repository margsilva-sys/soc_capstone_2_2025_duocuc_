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1" y="274320"/>
            <a:ext cx="49608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/>
              <a:t>Mapa de </a:t>
            </a:r>
            <a:r>
              <a:rPr sz="2800" b="1" u="sng" dirty="0" err="1"/>
              <a:t>Actores</a:t>
            </a:r>
            <a:r>
              <a:rPr sz="2800" b="1" u="sng" dirty="0"/>
              <a:t>  Proyecto SOC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44502" y="2468880"/>
            <a:ext cx="2261220" cy="9144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SOC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rPr sz="1600" dirty="0"/>
              <a:t>Sistema </a:t>
            </a:r>
            <a:r>
              <a:rPr sz="1600" dirty="0" err="1"/>
              <a:t>Operativo</a:t>
            </a:r>
            <a:r>
              <a:rPr sz="1600" dirty="0"/>
              <a:t> de </a:t>
            </a:r>
            <a:r>
              <a:rPr sz="1600" dirty="0" err="1"/>
              <a:t>Condominios</a:t>
            </a:r>
            <a:endParaRPr sz="1600" dirty="0"/>
          </a:p>
        </p:txBody>
      </p:sp>
      <p:sp>
        <p:nvSpPr>
          <p:cNvPr id="4" name="Oval 3"/>
          <p:cNvSpPr/>
          <p:nvPr/>
        </p:nvSpPr>
        <p:spPr>
          <a:xfrm>
            <a:off x="1524000" y="822960"/>
            <a:ext cx="2354580" cy="118872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Sponsor / Academia</a:t>
            </a:r>
            <a:endParaRPr lang="es-CL" sz="1100" b="1" dirty="0">
              <a:solidFill>
                <a:srgbClr val="FFFFFF"/>
              </a:solidFill>
            </a:endParaRPr>
          </a:p>
          <a:p>
            <a:pPr algn="ctr"/>
            <a:r>
              <a:rPr sz="1100" dirty="0" err="1"/>
              <a:t>Profesor</a:t>
            </a:r>
            <a:r>
              <a:rPr sz="1100" dirty="0"/>
              <a:t> Supervisor</a:t>
            </a:r>
            <a:br>
              <a:rPr sz="1100" dirty="0"/>
            </a:br>
            <a:r>
              <a:rPr sz="1100" dirty="0" err="1"/>
              <a:t>Aprobación</a:t>
            </a:r>
            <a:r>
              <a:rPr sz="1100" dirty="0"/>
              <a:t> de </a:t>
            </a:r>
            <a:r>
              <a:rPr sz="1100" dirty="0" err="1"/>
              <a:t>hitos</a:t>
            </a:r>
            <a:endParaRPr sz="1100" dirty="0"/>
          </a:p>
        </p:txBody>
      </p:sp>
      <p:cxnSp>
        <p:nvCxnSpPr>
          <p:cNvPr id="5" name="Connector 4"/>
          <p:cNvCxnSpPr>
            <a:cxnSpLocks/>
            <a:stCxn id="3" idx="1"/>
            <a:endCxn id="4" idx="5"/>
          </p:cNvCxnSpPr>
          <p:nvPr/>
        </p:nvCxnSpPr>
        <p:spPr>
          <a:xfrm flipH="1" flipV="1">
            <a:off x="3533760" y="1837596"/>
            <a:ext cx="1110742" cy="1088484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1592580" y="2240280"/>
            <a:ext cx="2286000" cy="1005840"/>
          </a:xfrm>
          <a:prstGeom prst="diamond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Product Owner </a:t>
            </a:r>
            <a:endParaRPr lang="es-CL" sz="1100" b="1" dirty="0">
              <a:solidFill>
                <a:srgbClr val="FFFFFF"/>
              </a:solidFill>
            </a:endParaRPr>
          </a:p>
          <a:p>
            <a:pPr algn="ctr"/>
            <a:r>
              <a:rPr sz="1100" dirty="0" err="1"/>
              <a:t>Prioriza</a:t>
            </a:r>
            <a:r>
              <a:rPr sz="1100" dirty="0"/>
              <a:t> backlog</a:t>
            </a:r>
            <a:br>
              <a:rPr sz="1100" dirty="0"/>
            </a:br>
            <a:r>
              <a:rPr sz="1100" dirty="0"/>
              <a:t>Define MVP</a:t>
            </a:r>
          </a:p>
        </p:txBody>
      </p:sp>
      <p:cxnSp>
        <p:nvCxnSpPr>
          <p:cNvPr id="7" name="Connector 6"/>
          <p:cNvCxnSpPr>
            <a:cxnSpLocks/>
            <a:stCxn id="3" idx="1"/>
            <a:endCxn id="6" idx="3"/>
          </p:cNvCxnSpPr>
          <p:nvPr/>
        </p:nvCxnSpPr>
        <p:spPr>
          <a:xfrm flipH="1" flipV="1">
            <a:off x="3878580" y="2743200"/>
            <a:ext cx="765922" cy="18288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/>
          <p:cNvSpPr/>
          <p:nvPr/>
        </p:nvSpPr>
        <p:spPr>
          <a:xfrm>
            <a:off x="1535542" y="3474720"/>
            <a:ext cx="2286000" cy="1005840"/>
          </a:xfrm>
          <a:prstGeom prst="parallelogram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Scrum Master </a:t>
            </a:r>
            <a:r>
              <a:rPr sz="1400" dirty="0" err="1"/>
              <a:t>Facilita</a:t>
            </a:r>
            <a:r>
              <a:rPr sz="1400" dirty="0"/>
              <a:t> </a:t>
            </a:r>
            <a:r>
              <a:rPr sz="1400" dirty="0" err="1"/>
              <a:t>proceso</a:t>
            </a:r>
            <a:br>
              <a:rPr sz="1400" dirty="0"/>
            </a:br>
            <a:r>
              <a:rPr sz="1400" dirty="0" err="1"/>
              <a:t>Remueve</a:t>
            </a:r>
            <a:r>
              <a:rPr sz="1400" dirty="0"/>
              <a:t> </a:t>
            </a:r>
            <a:r>
              <a:rPr sz="1400" dirty="0" err="1"/>
              <a:t>bloqueos</a:t>
            </a:r>
            <a:endParaRPr sz="1400" dirty="0"/>
          </a:p>
        </p:txBody>
      </p:sp>
      <p:cxnSp>
        <p:nvCxnSpPr>
          <p:cNvPr id="9" name="Connector 8"/>
          <p:cNvCxnSpPr>
            <a:cxnSpLocks/>
            <a:stCxn id="3" idx="1"/>
            <a:endCxn id="8" idx="2"/>
          </p:cNvCxnSpPr>
          <p:nvPr/>
        </p:nvCxnSpPr>
        <p:spPr>
          <a:xfrm flipH="1">
            <a:off x="3695812" y="2926080"/>
            <a:ext cx="948690" cy="105156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2597148" y="4697307"/>
            <a:ext cx="2286000" cy="1371600"/>
          </a:xfrm>
          <a:prstGeom prst="hexagon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Equipo de Desarrollo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Construcción</a:t>
            </a:r>
            <a:br>
              <a:rPr sz="1200" dirty="0"/>
            </a:br>
            <a:r>
              <a:rPr sz="1200" dirty="0" err="1"/>
              <a:t>Pruebas</a:t>
            </a:r>
            <a:r>
              <a:rPr sz="1200" dirty="0"/>
              <a:t> </a:t>
            </a:r>
            <a:r>
              <a:rPr sz="1200" dirty="0" err="1"/>
              <a:t>básicas</a:t>
            </a:r>
            <a:endParaRPr sz="1200" dirty="0"/>
          </a:p>
        </p:txBody>
      </p:sp>
      <p:cxnSp>
        <p:nvCxnSpPr>
          <p:cNvPr id="11" name="Connector 10"/>
          <p:cNvCxnSpPr>
            <a:cxnSpLocks/>
            <a:stCxn id="3" idx="2"/>
            <a:endCxn id="10" idx="5"/>
          </p:cNvCxnSpPr>
          <p:nvPr/>
        </p:nvCxnSpPr>
        <p:spPr>
          <a:xfrm flipH="1">
            <a:off x="4540248" y="3383281"/>
            <a:ext cx="1234864" cy="131402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evel 11"/>
          <p:cNvSpPr/>
          <p:nvPr/>
        </p:nvSpPr>
        <p:spPr>
          <a:xfrm>
            <a:off x="5836183" y="4749800"/>
            <a:ext cx="1665182" cy="1371600"/>
          </a:xfrm>
          <a:prstGeom prst="bevel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Administrador</a:t>
            </a:r>
            <a:r>
              <a:rPr sz="1200" b="1" dirty="0">
                <a:solidFill>
                  <a:srgbClr val="FFFFFF"/>
                </a:solidFill>
              </a:rPr>
              <a:t> de </a:t>
            </a:r>
            <a:r>
              <a:rPr sz="1200" b="1" dirty="0" err="1">
                <a:solidFill>
                  <a:srgbClr val="FFFFFF"/>
                </a:solidFill>
              </a:rPr>
              <a:t>Comunidad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Requisitos</a:t>
            </a:r>
            <a:br>
              <a:rPr sz="1200" dirty="0"/>
            </a:br>
            <a:r>
              <a:rPr sz="1200" dirty="0" err="1"/>
              <a:t>Validación</a:t>
            </a:r>
            <a:r>
              <a:rPr sz="1200" dirty="0"/>
              <a:t> de </a:t>
            </a:r>
            <a:r>
              <a:rPr sz="1200" dirty="0" err="1"/>
              <a:t>flujo</a:t>
            </a:r>
            <a:endParaRPr sz="1200" dirty="0"/>
          </a:p>
        </p:txBody>
      </p:sp>
      <p:cxnSp>
        <p:nvCxnSpPr>
          <p:cNvPr id="13" name="Connector 12"/>
          <p:cNvCxnSpPr>
            <a:cxnSpLocks/>
            <a:stCxn id="3" idx="2"/>
            <a:endCxn id="12" idx="6"/>
          </p:cNvCxnSpPr>
          <p:nvPr/>
        </p:nvCxnSpPr>
        <p:spPr>
          <a:xfrm>
            <a:off x="5775112" y="3383280"/>
            <a:ext cx="893662" cy="136652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pezoid 13"/>
          <p:cNvSpPr/>
          <p:nvPr/>
        </p:nvSpPr>
        <p:spPr>
          <a:xfrm>
            <a:off x="8106409" y="4589780"/>
            <a:ext cx="2000039" cy="1280160"/>
          </a:xfrm>
          <a:prstGeom prst="trapezoid">
            <a:avLst/>
          </a:prstGeom>
          <a:solidFill>
            <a:srgbClr val="14B8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Conserje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Registro</a:t>
            </a:r>
            <a:r>
              <a:rPr sz="1200" dirty="0"/>
              <a:t> </a:t>
            </a:r>
            <a:r>
              <a:rPr sz="1200" dirty="0" err="1"/>
              <a:t>diario</a:t>
            </a:r>
            <a:br>
              <a:rPr sz="1200" dirty="0"/>
            </a:br>
            <a:r>
              <a:rPr sz="1200" dirty="0" err="1"/>
              <a:t>Visitas</a:t>
            </a:r>
            <a:r>
              <a:rPr sz="1200" dirty="0"/>
              <a:t> / Encomiendas</a:t>
            </a:r>
          </a:p>
        </p:txBody>
      </p:sp>
      <p:cxnSp>
        <p:nvCxnSpPr>
          <p:cNvPr id="15" name="Connector 14"/>
          <p:cNvCxnSpPr>
            <a:cxnSpLocks/>
            <a:stCxn id="3" idx="2"/>
            <a:endCxn id="14" idx="0"/>
          </p:cNvCxnSpPr>
          <p:nvPr/>
        </p:nvCxnSpPr>
        <p:spPr>
          <a:xfrm>
            <a:off x="5775112" y="3383280"/>
            <a:ext cx="3331316" cy="120650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loud 15"/>
          <p:cNvSpPr/>
          <p:nvPr/>
        </p:nvSpPr>
        <p:spPr>
          <a:xfrm>
            <a:off x="7599861" y="2125980"/>
            <a:ext cx="2926080" cy="1280160"/>
          </a:xfrm>
          <a:prstGeom prst="cloud">
            <a:avLst/>
          </a:prstGeom>
          <a:solidFill>
            <a:srgbClr val="6366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 err="1">
                <a:solidFill>
                  <a:srgbClr val="FFFFFF"/>
                </a:solidFill>
              </a:rPr>
              <a:t>Residente</a:t>
            </a:r>
            <a:r>
              <a:rPr b="1" dirty="0">
                <a:solidFill>
                  <a:srgbClr val="FFFFFF"/>
                </a:solidFill>
              </a:rPr>
              <a:t> / </a:t>
            </a:r>
            <a:r>
              <a:rPr b="1" dirty="0" err="1">
                <a:solidFill>
                  <a:srgbClr val="FFFFFF"/>
                </a:solidFill>
              </a:rPr>
              <a:t>Propietario</a:t>
            </a:r>
            <a:endParaRPr b="1" dirty="0">
              <a:solidFill>
                <a:srgbClr val="FFFFFF"/>
              </a:solidFill>
            </a:endParaRP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sz="1200" dirty="0"/>
              <a:t>Pagos y </a:t>
            </a:r>
            <a:r>
              <a:rPr sz="1200" dirty="0" err="1"/>
              <a:t>reservas</a:t>
            </a:r>
            <a:br>
              <a:rPr sz="1200" dirty="0"/>
            </a:br>
            <a:r>
              <a:rPr sz="1200" dirty="0" err="1"/>
              <a:t>Recepción</a:t>
            </a:r>
            <a:r>
              <a:rPr sz="1200" dirty="0"/>
              <a:t> de </a:t>
            </a:r>
            <a:r>
              <a:rPr sz="1200" dirty="0" err="1"/>
              <a:t>avisos</a:t>
            </a:r>
            <a:endParaRPr sz="1200" dirty="0"/>
          </a:p>
        </p:txBody>
      </p:sp>
      <p:cxnSp>
        <p:nvCxnSpPr>
          <p:cNvPr id="17" name="Connector 16"/>
          <p:cNvCxnSpPr>
            <a:cxnSpLocks/>
            <a:stCxn id="3" idx="3"/>
            <a:endCxn id="16" idx="2"/>
          </p:cNvCxnSpPr>
          <p:nvPr/>
        </p:nvCxnSpPr>
        <p:spPr>
          <a:xfrm flipV="1">
            <a:off x="6905723" y="2766060"/>
            <a:ext cx="703215" cy="16002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ctagon 17"/>
          <p:cNvSpPr/>
          <p:nvPr/>
        </p:nvSpPr>
        <p:spPr>
          <a:xfrm>
            <a:off x="7557345" y="617220"/>
            <a:ext cx="2568788" cy="1280160"/>
          </a:xfrm>
          <a:prstGeom prst="octagon">
            <a:avLst/>
          </a:prstGeom>
          <a:solidFill>
            <a:srgbClr val="EA580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</a:rPr>
              <a:t>Integraciones Externas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sz="1200"/>
              <a:t>Pagos / Mensajería</a:t>
            </a:r>
            <a:br>
              <a:rPr sz="1200"/>
            </a:br>
            <a:r>
              <a:rPr sz="1200"/>
              <a:t>Correo / Notificaciones</a:t>
            </a:r>
          </a:p>
        </p:txBody>
      </p:sp>
      <p:cxnSp>
        <p:nvCxnSpPr>
          <p:cNvPr id="19" name="Connector 18"/>
          <p:cNvCxnSpPr>
            <a:cxnSpLocks/>
            <a:stCxn id="3" idx="0"/>
            <a:endCxn id="18" idx="3"/>
          </p:cNvCxnSpPr>
          <p:nvPr/>
        </p:nvCxnSpPr>
        <p:spPr>
          <a:xfrm flipV="1">
            <a:off x="5775113" y="1897380"/>
            <a:ext cx="2157179" cy="57150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28180" y="877476"/>
            <a:ext cx="2261220" cy="1042764"/>
          </a:xfrm>
          <a:prstGeom prst="rect">
            <a:avLst/>
          </a:prstGeom>
          <a:solidFill>
            <a:srgbClr val="36531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Plataforma y </a:t>
            </a:r>
            <a:r>
              <a:rPr sz="1200" b="1" dirty="0" err="1">
                <a:solidFill>
                  <a:srgbClr val="FFFFFF"/>
                </a:solidFill>
              </a:rPr>
              <a:t>Herramientas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/>
              <a:t>Azure / .NET / Angular</a:t>
            </a:r>
            <a:br>
              <a:rPr sz="1200" dirty="0"/>
            </a:br>
            <a:r>
              <a:rPr sz="1200" dirty="0"/>
              <a:t>Jira / Repos / CI</a:t>
            </a:r>
          </a:p>
        </p:txBody>
      </p:sp>
      <p:cxnSp>
        <p:nvCxnSpPr>
          <p:cNvPr id="21" name="Connector 20"/>
          <p:cNvCxnSpPr>
            <a:cxnSpLocks/>
            <a:stCxn id="3" idx="0"/>
            <a:endCxn id="20" idx="2"/>
          </p:cNvCxnSpPr>
          <p:nvPr/>
        </p:nvCxnSpPr>
        <p:spPr>
          <a:xfrm flipH="1" flipV="1">
            <a:off x="5558790" y="1920240"/>
            <a:ext cx="216322" cy="54864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Imagen 78">
            <a:extLst>
              <a:ext uri="{FF2B5EF4-FFF2-40B4-BE49-F238E27FC236}">
                <a16:creationId xmlns:a16="http://schemas.microsoft.com/office/drawing/2014/main" id="{D496D66E-AF69-1D43-C64B-9F331B20F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469" y="98732"/>
            <a:ext cx="1784240" cy="437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</Words>
  <Application>Microsoft Office PowerPoint</Application>
  <PresentationFormat>Panorámica</PresentationFormat>
  <Paragraphs>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ISRAEL MUÑOZ</dc:creator>
  <cp:keywords/>
  <dc:description>generated using python-pptx</dc:description>
  <cp:lastModifiedBy>ISRAEL MUÑOZ</cp:lastModifiedBy>
  <cp:revision>4</cp:revision>
  <dcterms:created xsi:type="dcterms:W3CDTF">2013-01-27T09:14:16Z</dcterms:created>
  <dcterms:modified xsi:type="dcterms:W3CDTF">2025-10-12T18:31:47Z</dcterms:modified>
  <cp:category/>
</cp:coreProperties>
</file>