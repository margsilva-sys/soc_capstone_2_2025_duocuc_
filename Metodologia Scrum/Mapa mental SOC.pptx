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274320"/>
            <a:ext cx="44245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/>
              <a:t>Mapa mental  Proyecto SOC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43140" y="3063240"/>
            <a:ext cx="2486320" cy="914400"/>
          </a:xfrm>
          <a:prstGeom prst="roundRect">
            <a:avLst/>
          </a:prstGeom>
          <a:solidFill>
            <a:srgbClr val="37415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</a:rPr>
              <a:t>SOC</a:t>
            </a:r>
            <a:endParaRPr lang="es-CL" sz="1600" b="1" dirty="0">
              <a:solidFill>
                <a:srgbClr val="FFFFFF"/>
              </a:solidFill>
            </a:endParaRPr>
          </a:p>
          <a:p>
            <a:pPr algn="ctr"/>
            <a:r>
              <a:rPr sz="1600" dirty="0"/>
              <a:t>Sistema </a:t>
            </a:r>
            <a:r>
              <a:rPr sz="1600" dirty="0" err="1"/>
              <a:t>Operativo</a:t>
            </a:r>
            <a:r>
              <a:rPr sz="1600" dirty="0"/>
              <a:t> de </a:t>
            </a:r>
            <a:r>
              <a:rPr sz="1600" dirty="0" err="1"/>
              <a:t>Condominios</a:t>
            </a:r>
            <a:endParaRPr sz="1600" dirty="0"/>
          </a:p>
        </p:txBody>
      </p:sp>
      <p:sp>
        <p:nvSpPr>
          <p:cNvPr id="4" name="Rounded Rectangle 3"/>
          <p:cNvSpPr/>
          <p:nvPr/>
        </p:nvSpPr>
        <p:spPr>
          <a:xfrm>
            <a:off x="209312" y="1430046"/>
            <a:ext cx="2643040" cy="1118490"/>
          </a:xfrm>
          <a:prstGeom prst="roundRect">
            <a:avLst/>
          </a:prstGeom>
          <a:solidFill>
            <a:srgbClr val="4F46E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Propósito</a:t>
            </a:r>
            <a:endParaRPr lang="es-CL" sz="1400" b="1" dirty="0">
              <a:solidFill>
                <a:srgbClr val="FFFFFF"/>
              </a:solidFill>
            </a:endParaRPr>
          </a:p>
          <a:p>
            <a:pPr algn="ctr"/>
            <a:r>
              <a:rPr sz="1400" dirty="0" err="1"/>
              <a:t>Ordenar</a:t>
            </a:r>
            <a:r>
              <a:rPr sz="1400" dirty="0"/>
              <a:t> la </a:t>
            </a:r>
            <a:r>
              <a:rPr sz="1400" dirty="0" err="1"/>
              <a:t>gestión</a:t>
            </a:r>
            <a:r>
              <a:rPr sz="1400" dirty="0"/>
              <a:t> </a:t>
            </a:r>
            <a:r>
              <a:rPr sz="1400" dirty="0" err="1"/>
              <a:t>diaria</a:t>
            </a:r>
            <a:br>
              <a:rPr sz="1400" dirty="0"/>
            </a:br>
            <a:r>
              <a:rPr sz="1400" dirty="0" err="1"/>
              <a:t>Transparencia</a:t>
            </a:r>
            <a:r>
              <a:rPr sz="1400" dirty="0"/>
              <a:t> para </a:t>
            </a:r>
            <a:r>
              <a:rPr sz="1400" dirty="0" err="1"/>
              <a:t>residentes</a:t>
            </a:r>
            <a:endParaRPr sz="1400" dirty="0"/>
          </a:p>
        </p:txBody>
      </p:sp>
      <p:cxnSp>
        <p:nvCxnSpPr>
          <p:cNvPr id="5" name="Connector 4"/>
          <p:cNvCxnSpPr>
            <a:cxnSpLocks/>
            <a:stCxn id="3" idx="1"/>
            <a:endCxn id="4" idx="3"/>
          </p:cNvCxnSpPr>
          <p:nvPr/>
        </p:nvCxnSpPr>
        <p:spPr>
          <a:xfrm flipH="1" flipV="1">
            <a:off x="2852352" y="1989291"/>
            <a:ext cx="590788" cy="1531149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14300" y="3751397"/>
            <a:ext cx="2263140" cy="127309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FFFFFF"/>
                </a:solidFill>
              </a:rPr>
              <a:t>Usuarios</a:t>
            </a:r>
            <a:endParaRPr lang="es-CL" b="1" dirty="0">
              <a:solidFill>
                <a:srgbClr val="FFFFFF"/>
              </a:solidFill>
            </a:endParaRPr>
          </a:p>
          <a:p>
            <a:pPr algn="ctr"/>
            <a:r>
              <a:rPr dirty="0" err="1"/>
              <a:t>Administrador</a:t>
            </a:r>
            <a:br>
              <a:rPr dirty="0"/>
            </a:br>
            <a:r>
              <a:rPr dirty="0" err="1"/>
              <a:t>Conserje</a:t>
            </a:r>
            <a:r>
              <a:rPr dirty="0"/>
              <a:t> / </a:t>
            </a:r>
            <a:r>
              <a:rPr dirty="0" err="1"/>
              <a:t>Residente</a:t>
            </a:r>
            <a:endParaRPr dirty="0"/>
          </a:p>
        </p:txBody>
      </p:sp>
      <p:cxnSp>
        <p:nvCxnSpPr>
          <p:cNvPr id="7" name="Connector 6"/>
          <p:cNvCxnSpPr>
            <a:cxnSpLocks/>
            <a:stCxn id="3" idx="1"/>
            <a:endCxn id="6" idx="0"/>
          </p:cNvCxnSpPr>
          <p:nvPr/>
        </p:nvCxnSpPr>
        <p:spPr>
          <a:xfrm flipH="1">
            <a:off x="1245870" y="3520440"/>
            <a:ext cx="2197270" cy="230957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Hexagon 7"/>
          <p:cNvSpPr/>
          <p:nvPr/>
        </p:nvSpPr>
        <p:spPr>
          <a:xfrm>
            <a:off x="1534330" y="5148417"/>
            <a:ext cx="2263140" cy="1273090"/>
          </a:xfrm>
          <a:prstGeom prst="hexagon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 err="1">
                <a:solidFill>
                  <a:srgbClr val="FFFFFF"/>
                </a:solidFill>
              </a:rPr>
              <a:t>Módulos</a:t>
            </a:r>
            <a:endParaRPr lang="es-CL" sz="1400" b="1" dirty="0">
              <a:solidFill>
                <a:srgbClr val="FFFFFF"/>
              </a:solidFill>
            </a:endParaRPr>
          </a:p>
          <a:p>
            <a:pPr algn="ctr"/>
            <a:r>
              <a:rPr sz="1400" dirty="0" err="1"/>
              <a:t>Registro</a:t>
            </a:r>
            <a:r>
              <a:rPr sz="1400" dirty="0"/>
              <a:t> / </a:t>
            </a:r>
            <a:r>
              <a:rPr sz="1400" dirty="0" err="1"/>
              <a:t>Reservas</a:t>
            </a:r>
            <a:br>
              <a:rPr sz="1400" dirty="0"/>
            </a:br>
            <a:r>
              <a:rPr sz="1400" dirty="0"/>
              <a:t>Encomiendas / </a:t>
            </a:r>
            <a:r>
              <a:rPr sz="1400" dirty="0" err="1"/>
              <a:t>Reportes</a:t>
            </a:r>
            <a:endParaRPr sz="1400" dirty="0"/>
          </a:p>
        </p:txBody>
      </p:sp>
      <p:cxnSp>
        <p:nvCxnSpPr>
          <p:cNvPr id="9" name="Connector 8"/>
          <p:cNvCxnSpPr>
            <a:cxnSpLocks/>
            <a:stCxn id="3" idx="2"/>
            <a:endCxn id="8" idx="5"/>
          </p:cNvCxnSpPr>
          <p:nvPr/>
        </p:nvCxnSpPr>
        <p:spPr>
          <a:xfrm flipH="1">
            <a:off x="3479198" y="3977640"/>
            <a:ext cx="1207102" cy="1170777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iamond 9"/>
          <p:cNvSpPr/>
          <p:nvPr/>
        </p:nvSpPr>
        <p:spPr>
          <a:xfrm>
            <a:off x="4241885" y="5249535"/>
            <a:ext cx="2834640" cy="1463040"/>
          </a:xfrm>
          <a:prstGeom prst="diamond">
            <a:avLst/>
          </a:prstGeom>
          <a:solidFill>
            <a:srgbClr val="EF4444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MVP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 err="1"/>
              <a:t>Cobro</a:t>
            </a:r>
            <a:r>
              <a:rPr sz="1200" dirty="0"/>
              <a:t> </a:t>
            </a:r>
            <a:r>
              <a:rPr sz="1200" dirty="0" err="1"/>
              <a:t>mensual</a:t>
            </a:r>
            <a:r>
              <a:rPr sz="1200" dirty="0"/>
              <a:t> + Pago</a:t>
            </a:r>
            <a:br>
              <a:rPr sz="1200" dirty="0"/>
            </a:br>
            <a:r>
              <a:rPr sz="1200" dirty="0" err="1"/>
              <a:t>Notificación</a:t>
            </a:r>
            <a:r>
              <a:rPr sz="1200" dirty="0"/>
              <a:t> y </a:t>
            </a:r>
            <a:r>
              <a:rPr sz="1200" dirty="0" err="1"/>
              <a:t>registro</a:t>
            </a:r>
            <a:endParaRPr sz="1200" dirty="0"/>
          </a:p>
        </p:txBody>
      </p:sp>
      <p:cxnSp>
        <p:nvCxnSpPr>
          <p:cNvPr id="11" name="Connector 10"/>
          <p:cNvCxnSpPr>
            <a:cxnSpLocks/>
            <a:stCxn id="3" idx="2"/>
            <a:endCxn id="10" idx="0"/>
          </p:cNvCxnSpPr>
          <p:nvPr/>
        </p:nvCxnSpPr>
        <p:spPr>
          <a:xfrm>
            <a:off x="4686300" y="3977640"/>
            <a:ext cx="972905" cy="1271895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rallelogram 11"/>
          <p:cNvSpPr/>
          <p:nvPr/>
        </p:nvSpPr>
        <p:spPr>
          <a:xfrm>
            <a:off x="6543378" y="3977640"/>
            <a:ext cx="2486321" cy="1371600"/>
          </a:xfrm>
          <a:prstGeom prst="parallelogram">
            <a:avLst/>
          </a:prstGeom>
          <a:solidFill>
            <a:srgbClr val="3B82F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</a:rPr>
              <a:t>Plan (Sprints)</a:t>
            </a:r>
            <a:endParaRPr lang="es-CL" sz="1200" b="1" dirty="0">
              <a:solidFill>
                <a:srgbClr val="FFFFFF"/>
              </a:solidFill>
            </a:endParaRPr>
          </a:p>
          <a:p>
            <a:pPr algn="ctr"/>
            <a:r>
              <a:rPr sz="1200" dirty="0"/>
              <a:t>S0 Bases </a:t>
            </a:r>
            <a:endParaRPr lang="es-CL" sz="1200" dirty="0"/>
          </a:p>
          <a:p>
            <a:pPr algn="ctr"/>
            <a:r>
              <a:rPr sz="1200" dirty="0"/>
              <a:t> S1 </a:t>
            </a:r>
            <a:r>
              <a:rPr sz="1200" dirty="0" err="1"/>
              <a:t>Operaciones</a:t>
            </a:r>
            <a:br>
              <a:rPr sz="1200" dirty="0"/>
            </a:br>
            <a:r>
              <a:rPr sz="1200" dirty="0"/>
              <a:t>S2 </a:t>
            </a:r>
            <a:r>
              <a:rPr sz="1200" dirty="0" err="1"/>
              <a:t>Finanzas</a:t>
            </a:r>
            <a:r>
              <a:rPr sz="1200" dirty="0"/>
              <a:t> </a:t>
            </a:r>
            <a:endParaRPr lang="es-CL" sz="1200" dirty="0"/>
          </a:p>
          <a:p>
            <a:pPr algn="ctr"/>
            <a:r>
              <a:rPr sz="1200" dirty="0"/>
              <a:t>S3</a:t>
            </a:r>
            <a:r>
              <a:rPr lang="es-CL" sz="1200" dirty="0"/>
              <a:t> personal </a:t>
            </a:r>
          </a:p>
          <a:p>
            <a:pPr algn="ctr"/>
            <a:r>
              <a:rPr lang="es-CL" sz="1200" dirty="0"/>
              <a:t>S4 informe</a:t>
            </a:r>
          </a:p>
          <a:p>
            <a:pPr algn="ctr"/>
            <a:r>
              <a:rPr sz="1200" dirty="0"/>
              <a:t>S5 Cierre</a:t>
            </a:r>
          </a:p>
        </p:txBody>
      </p:sp>
      <p:cxnSp>
        <p:nvCxnSpPr>
          <p:cNvPr id="13" name="Connector 12"/>
          <p:cNvCxnSpPr>
            <a:cxnSpLocks/>
            <a:stCxn id="3" idx="3"/>
            <a:endCxn id="12" idx="0"/>
          </p:cNvCxnSpPr>
          <p:nvPr/>
        </p:nvCxnSpPr>
        <p:spPr>
          <a:xfrm>
            <a:off x="5929460" y="3520440"/>
            <a:ext cx="1857079" cy="457200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loud 13"/>
          <p:cNvSpPr/>
          <p:nvPr/>
        </p:nvSpPr>
        <p:spPr>
          <a:xfrm>
            <a:off x="6103620" y="1588669"/>
            <a:ext cx="3017520" cy="1371600"/>
          </a:xfrm>
          <a:prstGeom prst="cloud">
            <a:avLst/>
          </a:prstGeom>
          <a:solidFill>
            <a:srgbClr val="14B8A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Riesgos</a:t>
            </a: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t>Levantamiento</a:t>
            </a:r>
            <a:br/>
            <a:r>
              <a:t>Pagos/tecnología</a:t>
            </a:r>
          </a:p>
        </p:txBody>
      </p:sp>
      <p:cxnSp>
        <p:nvCxnSpPr>
          <p:cNvPr id="15" name="Connector 14"/>
          <p:cNvCxnSpPr>
            <a:cxnSpLocks/>
            <a:stCxn id="3" idx="3"/>
            <a:endCxn id="14" idx="1"/>
          </p:cNvCxnSpPr>
          <p:nvPr/>
        </p:nvCxnSpPr>
        <p:spPr>
          <a:xfrm flipV="1">
            <a:off x="5929460" y="2958809"/>
            <a:ext cx="1682920" cy="561631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Bevel 15"/>
          <p:cNvSpPr/>
          <p:nvPr/>
        </p:nvSpPr>
        <p:spPr>
          <a:xfrm>
            <a:off x="3154680" y="982777"/>
            <a:ext cx="2834640" cy="1371600"/>
          </a:xfrm>
          <a:prstGeom prst="bevel">
            <a:avLst/>
          </a:prstGeom>
          <a:solidFill>
            <a:srgbClr val="6366F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 err="1">
                <a:solidFill>
                  <a:srgbClr val="FFFFFF"/>
                </a:solidFill>
              </a:rPr>
              <a:t>Indicadores</a:t>
            </a:r>
            <a:endParaRPr sz="1800" b="1" dirty="0">
              <a:solidFill>
                <a:srgbClr val="FFFFFF"/>
              </a:solidFill>
            </a:endParaRPr>
          </a:p>
          <a:p>
            <a:pPr lvl="1">
              <a:defRPr sz="1200">
                <a:solidFill>
                  <a:srgbClr val="FFFFFF"/>
                </a:solidFill>
              </a:defRPr>
            </a:pPr>
            <a:r>
              <a:rPr dirty="0" err="1"/>
              <a:t>Cobros</a:t>
            </a:r>
            <a:r>
              <a:rPr dirty="0"/>
              <a:t> </a:t>
            </a:r>
            <a:r>
              <a:rPr dirty="0" err="1"/>
              <a:t>completos</a:t>
            </a:r>
            <a:br>
              <a:rPr dirty="0"/>
            </a:br>
            <a:r>
              <a:rPr dirty="0" err="1"/>
              <a:t>Satisfacción</a:t>
            </a:r>
            <a:r>
              <a:rPr dirty="0"/>
              <a:t> </a:t>
            </a:r>
            <a:r>
              <a:rPr dirty="0" err="1"/>
              <a:t>usuarios</a:t>
            </a:r>
            <a:endParaRPr dirty="0"/>
          </a:p>
        </p:txBody>
      </p:sp>
      <p:cxnSp>
        <p:nvCxnSpPr>
          <p:cNvPr id="17" name="Connector 16"/>
          <p:cNvCxnSpPr>
            <a:cxnSpLocks/>
            <a:stCxn id="3" idx="0"/>
            <a:endCxn id="16" idx="2"/>
          </p:cNvCxnSpPr>
          <p:nvPr/>
        </p:nvCxnSpPr>
        <p:spPr>
          <a:xfrm flipH="1" flipV="1">
            <a:off x="4572000" y="2354377"/>
            <a:ext cx="114300" cy="708863"/>
          </a:xfrm>
          <a:prstGeom prst="line">
            <a:avLst/>
          </a:prstGeom>
          <a:ln w="25400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Imagen 66">
            <a:extLst>
              <a:ext uri="{FF2B5EF4-FFF2-40B4-BE49-F238E27FC236}">
                <a16:creationId xmlns:a16="http://schemas.microsoft.com/office/drawing/2014/main" id="{45D7D640-E2E4-2693-1378-2075BE1C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459" y="225334"/>
            <a:ext cx="1784240" cy="437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71</Words>
  <Application>Microsoft Office PowerPoint</Application>
  <PresentationFormat>Presentación en pantalla (4:3)</PresentationFormat>
  <Paragraphs>21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ISRAEL MUÑOZ</dc:creator>
  <cp:keywords/>
  <dc:description>generated using python-pptx</dc:description>
  <cp:lastModifiedBy>ISRAEL MUÑOZ</cp:lastModifiedBy>
  <cp:revision>2</cp:revision>
  <dcterms:created xsi:type="dcterms:W3CDTF">2013-01-27T09:14:16Z</dcterms:created>
  <dcterms:modified xsi:type="dcterms:W3CDTF">2025-10-11T18:25:48Z</dcterms:modified>
  <cp:category/>
</cp:coreProperties>
</file>