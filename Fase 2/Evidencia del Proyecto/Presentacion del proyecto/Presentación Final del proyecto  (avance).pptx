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281" r:id="rId5"/>
    <p:sldId id="325" r:id="rId6"/>
    <p:sldId id="282" r:id="rId7"/>
    <p:sldId id="295" r:id="rId8"/>
    <p:sldId id="283" r:id="rId9"/>
    <p:sldId id="303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Fabian" id="{0CD2E699-E286-49BE-92AB-50979643BBB5}">
          <p14:sldIdLst>
            <p14:sldId id="281"/>
            <p14:sldId id="325"/>
            <p14:sldId id="282"/>
            <p14:sldId id="295"/>
            <p14:sldId id="283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2" roundtripDataSignature="AMtx7mgkW/5GBkxGRIcYgWuVkFpZKtI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D5FF"/>
    <a:srgbClr val="2A3346"/>
    <a:srgbClr val="2740CC"/>
    <a:srgbClr val="3E60C3"/>
    <a:srgbClr val="D0DEEF"/>
    <a:srgbClr val="FFFFFF"/>
    <a:srgbClr val="272490"/>
    <a:srgbClr val="BFBFBF"/>
    <a:srgbClr val="7B8591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C421F1-4B15-4F91-AF06-09D31E34FDF9}">
  <a:tblStyle styleId="{2CC421F1-4B15-4F91-AF06-09D31E34FDF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1" autoAdjust="0"/>
    <p:restoredTop sz="93969" autoAdjust="0"/>
  </p:normalViewPr>
  <p:slideViewPr>
    <p:cSldViewPr snapToGrid="0">
      <p:cViewPr varScale="1">
        <p:scale>
          <a:sx n="80" d="100"/>
          <a:sy n="80" d="100"/>
        </p:scale>
        <p:origin x="120" y="120"/>
      </p:cViewPr>
      <p:guideLst>
        <p:guide orient="horz" pos="218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32" Type="http://customschemas.google.com/relationships/presentationmetadata" Target="metadata"/><Relationship Id="rId5" Type="http://schemas.openxmlformats.org/officeDocument/2006/relationships/slide" Target="slides/slide1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311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4386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6C8D-EE2B-D66D-37C6-1306D88E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8066FE-42B6-347E-6426-828B7D7E3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CBD5AC-352E-3EDC-90C3-C31AC5E79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  <a:t>- SaaS de gestión administrativa y finanzas.</a:t>
            </a:r>
            <a:b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</a:br>
            <a: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  <a:t>- Disminuye tiempos de gestión automatizando el cálculo de GGCC.</a:t>
            </a:r>
            <a:b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</a:br>
            <a: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  <a:t>- Brinda transparencia financiera para residentes. </a:t>
            </a:r>
            <a:b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</a:br>
            <a: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  <a:t>- Cumplimiento de Ley 21.442.</a:t>
            </a:r>
            <a:b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</a:br>
            <a:r>
              <a:rPr lang="es-ES" sz="1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  <a:sym typeface="Calibri"/>
              </a:rPr>
              <a:t>- Propuesta de valor: eficiencia &gt; satisfacción de residentes. </a:t>
            </a:r>
          </a:p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ES" b="0" i="0" dirty="0">
                <a:solidFill>
                  <a:srgbClr val="000000"/>
                </a:solidFill>
                <a:effectLst/>
                <a:latin typeface="Arial Unicode MS"/>
              </a:rPr>
              <a:t>- Eficiencia: Capacidad de lograr los resultados deseados con el mínimo posible de recursos. (RAE)</a:t>
            </a:r>
            <a:endParaRPr lang="es-E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Lato" panose="020F0502020204030203" pitchFamily="34" charset="0"/>
              <a:ea typeface="Calibri"/>
              <a:cs typeface="Calibri"/>
              <a:sym typeface="Calibri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3069755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s-ES" sz="1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Desarrollar un sistema web para administración de comunidades de edificios que permita la gestión de operacional, de finanzas y personal de manera eficiente.</a:t>
            </a:r>
          </a:p>
          <a:p>
            <a:pPr marL="158750" indent="0">
              <a:buNone/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49163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6C8D-EE2B-D66D-37C6-1306D88E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38066FE-42B6-347E-6426-828B7D7E3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8CBD5AC-352E-3EDC-90C3-C31AC5E79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1. Gestionar unidades, residentes e ingresos mediante la implementación de un </a:t>
            </a:r>
            <a:r>
              <a:rPr lang="es-ES" dirty="0" err="1"/>
              <a:t>backend</a:t>
            </a:r>
            <a:r>
              <a:rPr lang="es-ES" dirty="0"/>
              <a:t> robusto desarrollado en .NET y MySQL.</a:t>
            </a:r>
          </a:p>
          <a:p>
            <a:endParaRPr lang="es-ES" dirty="0"/>
          </a:p>
          <a:p>
            <a:r>
              <a:rPr lang="es-ES" dirty="0"/>
              <a:t>2. Diseñar una interfaz web intuitiva y responsiva utilizando Angular para facilitar el acceso y la experiencia del usuario.</a:t>
            </a:r>
          </a:p>
          <a:p>
            <a:endParaRPr lang="es-ES" dirty="0"/>
          </a:p>
          <a:p>
            <a:r>
              <a:rPr lang="es-ES" dirty="0"/>
              <a:t>5. Utilizar GitHub para la gestión del código fuente, facilitando la colaboración entre desarrolladores y el control de versiones.</a:t>
            </a:r>
          </a:p>
          <a:p>
            <a:endParaRPr lang="es-ES" dirty="0"/>
          </a:p>
          <a:p>
            <a:r>
              <a:rPr lang="es-ES" dirty="0"/>
              <a:t>6. Automatizar la generación de reportes financieros y operativos para apoyar la toma de decisiones administrativas.</a:t>
            </a:r>
          </a:p>
          <a:p>
            <a:endParaRPr lang="es-ES" dirty="0"/>
          </a:p>
          <a:p>
            <a:r>
              <a:rPr lang="es-ES" dirty="0"/>
              <a:t>10. Desarrollar funcionalidades para gestionar el mantenimiento de instalaciones y controlar los gastos comunes.</a:t>
            </a:r>
          </a:p>
          <a:p>
            <a:endParaRPr lang="es-ES" dirty="0"/>
          </a:p>
          <a:p>
            <a:r>
              <a:rPr lang="es-ES" dirty="0"/>
              <a:t>15. Asegurar el cumplimiento de normativas locales relacionadas con la gestión de comunidades de edificios.</a:t>
            </a:r>
            <a:endParaRPr lang="es-CL" dirty="0"/>
          </a:p>
          <a:p>
            <a:endParaRPr lang="es-CL" dirty="0"/>
          </a:p>
          <a:p>
            <a:r>
              <a:rPr lang="es-ES" dirty="0"/>
              <a:t>3. Asegurar la escalabilidad, disponibilidad y seguridad del sistema mediante la integración de servicios en la nube con Azure.</a:t>
            </a:r>
          </a:p>
          <a:p>
            <a:r>
              <a:rPr lang="es-ES" dirty="0"/>
              <a:t>4. Implementar MongoDB para almacenar y gestionar datos no estructurados de forma eficiente. </a:t>
            </a:r>
          </a:p>
          <a:p>
            <a:r>
              <a:rPr lang="es-ES" dirty="0"/>
              <a:t>7. Facilitar la comunicación con los residentes mediante el envío de notificaciones automáticas en tiempo real.</a:t>
            </a:r>
          </a:p>
          <a:p>
            <a:r>
              <a:rPr lang="es-ES" dirty="0"/>
              <a:t>8. Incorporar autenticación y autorización seguras para proteger el acceso al sistema.</a:t>
            </a:r>
          </a:p>
          <a:p>
            <a:r>
              <a:rPr lang="es-ES" dirty="0"/>
              <a:t>9. Integrar sistemas de pago en línea para realizar cobros de manera ágil y segura.</a:t>
            </a:r>
          </a:p>
          <a:p>
            <a:r>
              <a:rPr lang="es-ES" dirty="0"/>
              <a:t>11. Optimizar el rendimiento del sistema mediante consultas rápidas y una carga eficiente de datos.</a:t>
            </a:r>
          </a:p>
          <a:p>
            <a:r>
              <a:rPr lang="es-ES" dirty="0"/>
              <a:t>12. Configurar acceso multiusuario con roles y permisos específicos según las necesidades de cada tipo de usuario.</a:t>
            </a:r>
          </a:p>
          <a:p>
            <a:r>
              <a:rPr lang="es-ES" dirty="0"/>
              <a:t>13. Establecer mecanismos de respaldo periódico y recuperación de datos para garantizar la continuidad del servicio.</a:t>
            </a:r>
          </a:p>
          <a:p>
            <a:r>
              <a:rPr lang="es-ES" dirty="0"/>
              <a:t>14. Mejorar la visibilidad y control de procesos operativos y financieros mediante </a:t>
            </a:r>
            <a:r>
              <a:rPr lang="es-ES" dirty="0" err="1"/>
              <a:t>dashboards</a:t>
            </a:r>
            <a:r>
              <a:rPr lang="es-ES" dirty="0"/>
              <a:t> interactivos.</a:t>
            </a:r>
          </a:p>
        </p:txBody>
      </p:sp>
    </p:spTree>
    <p:extLst>
      <p:ext uri="{BB962C8B-B14F-4D97-AF65-F5344CB8AC3E}">
        <p14:creationId xmlns:p14="http://schemas.microsoft.com/office/powerpoint/2010/main" val="1290744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En blanc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Contenido con títul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43178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377" lvl="1" indent="-4063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566" lvl="2" indent="-38099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754" lvl="3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5943" lvl="4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131" lvl="5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377" lvl="1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566" lvl="2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754" lvl="3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5943" lvl="4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131" lvl="5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320" lvl="6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509" lvl="7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697" lvl="8" indent="-22859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>
            <a:spLocks noGrp="1"/>
          </p:cNvSpPr>
          <p:nvPr>
            <p:ph type="title"/>
          </p:nvPr>
        </p:nvSpPr>
        <p:spPr>
          <a:xfrm rot="5400000">
            <a:off x="7133432" y="1956595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34289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377" lvl="1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566" lvl="2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754" lvl="3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5943" lvl="4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131" lvl="5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CL" smtClean="0"/>
              <a:pPr/>
              <a:t>‹Nº›</a:t>
            </a:fld>
            <a:endParaRPr lang="es-CL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5">
            <a:extLst>
              <a:ext uri="{FF2B5EF4-FFF2-40B4-BE49-F238E27FC236}">
                <a16:creationId xmlns:a16="http://schemas.microsoft.com/office/drawing/2014/main" id="{40319069-4BE3-BAEB-33FA-20E466510166}"/>
              </a:ext>
            </a:extLst>
          </p:cNvPr>
          <p:cNvSpPr txBox="1"/>
          <p:nvPr/>
        </p:nvSpPr>
        <p:spPr>
          <a:xfrm>
            <a:off x="3273944" y="5556886"/>
            <a:ext cx="5644112" cy="550411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defPPr>
              <a:defRPr lang="es-C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3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Lato SemiBold" panose="020F0502020204030203" pitchFamily="34" charset="0"/>
                <a:cs typeface="Lato SemiBold" panose="020F0502020204030203" pitchFamily="34" charset="0"/>
              </a:rPr>
              <a:t>Presentación final </a:t>
            </a:r>
            <a:r>
              <a:rPr lang="es-CL" sz="3000" b="1" dirty="0" err="1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Lato SemiBold" panose="020F0502020204030203" pitchFamily="34" charset="0"/>
                <a:cs typeface="Lato SemiBold" panose="020F0502020204030203" pitchFamily="34" charset="0"/>
              </a:rPr>
              <a:t>Capstone</a:t>
            </a:r>
            <a:endParaRPr lang="es-CL" sz="3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pic>
        <p:nvPicPr>
          <p:cNvPr id="2" name="Google Shape;74;p1">
            <a:extLst>
              <a:ext uri="{FF2B5EF4-FFF2-40B4-BE49-F238E27FC236}">
                <a16:creationId xmlns:a16="http://schemas.microsoft.com/office/drawing/2014/main" id="{A3CAAB7A-B671-F38F-BD7C-2239237685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55614" y="2512761"/>
            <a:ext cx="4606756" cy="29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3;p1">
            <a:extLst>
              <a:ext uri="{FF2B5EF4-FFF2-40B4-BE49-F238E27FC236}">
                <a16:creationId xmlns:a16="http://schemas.microsoft.com/office/drawing/2014/main" id="{290E7D9B-0D03-6D4F-A1B1-42C9376D97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;p1">
            <a:extLst>
              <a:ext uri="{FF2B5EF4-FFF2-40B4-BE49-F238E27FC236}">
                <a16:creationId xmlns:a16="http://schemas.microsoft.com/office/drawing/2014/main" id="{8DAAA20A-EEFC-4BB1-8AC3-7399A5B5AF17}"/>
              </a:ext>
            </a:extLst>
          </p:cNvPr>
          <p:cNvSpPr txBox="1">
            <a:spLocks/>
          </p:cNvSpPr>
          <p:nvPr/>
        </p:nvSpPr>
        <p:spPr>
          <a:xfrm>
            <a:off x="2234850" y="125061"/>
            <a:ext cx="77223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endParaRPr lang="es-MX" sz="3200" b="1" dirty="0">
              <a:solidFill>
                <a:schemeClr val="dk1"/>
              </a:solidFill>
              <a:highlight>
                <a:schemeClr val="dk1"/>
              </a:highlight>
            </a:endParaRPr>
          </a:p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s-MX" sz="3200" b="1" dirty="0">
                <a:solidFill>
                  <a:schemeClr val="dk1"/>
                </a:solidFill>
              </a:rPr>
              <a:t>Ingeniería en Informática</a:t>
            </a:r>
            <a:endParaRPr lang="es-MX" b="1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</a:pPr>
            <a:r>
              <a:rPr lang="es-MX" sz="2000" b="1" dirty="0">
                <a:solidFill>
                  <a:schemeClr val="dk1"/>
                </a:solidFill>
              </a:rPr>
              <a:t>Escuela de Informática y Telecomunicaciones</a:t>
            </a:r>
            <a:endParaRPr lang="es-MX" b="1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</a:pPr>
            <a:r>
              <a:rPr lang="es-MX" sz="2000" b="1" dirty="0">
                <a:solidFill>
                  <a:schemeClr val="dk1"/>
                </a:solidFill>
              </a:rPr>
              <a:t>Sede Plaza Vespucio</a:t>
            </a:r>
            <a:endParaRPr lang="es-MX" b="1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</a:pPr>
            <a:r>
              <a:rPr lang="es-MX" sz="2000" b="1" dirty="0">
                <a:solidFill>
                  <a:schemeClr val="dk1"/>
                </a:solidFill>
              </a:rPr>
              <a:t>Docente Instructor de la Asignatura:</a:t>
            </a:r>
            <a:endParaRPr lang="es-MX" b="1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</a:pPr>
            <a:r>
              <a:rPr lang="es-MX" sz="2800" b="1" dirty="0">
                <a:solidFill>
                  <a:schemeClr val="dk1"/>
                </a:solidFill>
              </a:rPr>
              <a:t>Marcos Valenzuela Contreras</a:t>
            </a:r>
            <a:endParaRPr lang="es-MX" b="1" dirty="0">
              <a:solidFill>
                <a:schemeClr val="dk1"/>
              </a:solidFill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1400"/>
            </a:pPr>
            <a:endParaRPr lang="es-MX" b="1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57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F580D-B1B6-7B20-E854-C4E81E5A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126F0009-6DAF-026C-583C-489BC423F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002" y="6300001"/>
            <a:ext cx="1276895" cy="31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3C309F4A-2395-8D60-E29F-A94120B3B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24" y="-46787"/>
            <a:ext cx="1639938" cy="92246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10757041-CFD2-92C1-205F-95BAC778F033}"/>
              </a:ext>
            </a:extLst>
          </p:cNvPr>
          <p:cNvSpPr txBox="1"/>
          <p:nvPr/>
        </p:nvSpPr>
        <p:spPr>
          <a:xfrm>
            <a:off x="-237323" y="277808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ROLES</a:t>
            </a:r>
          </a:p>
        </p:txBody>
      </p:sp>
      <p:grpSp>
        <p:nvGrpSpPr>
          <p:cNvPr id="16" name="Group 28">
            <a:extLst>
              <a:ext uri="{FF2B5EF4-FFF2-40B4-BE49-F238E27FC236}">
                <a16:creationId xmlns:a16="http://schemas.microsoft.com/office/drawing/2014/main" id="{574FFC65-FE21-A3B7-063B-6B5EBCA2FE05}"/>
              </a:ext>
            </a:extLst>
          </p:cNvPr>
          <p:cNvGrpSpPr/>
          <p:nvPr/>
        </p:nvGrpSpPr>
        <p:grpSpPr>
          <a:xfrm>
            <a:off x="2133600" y="4474246"/>
            <a:ext cx="3442631" cy="2105945"/>
            <a:chOff x="7474260" y="3876348"/>
            <a:chExt cx="2923779" cy="1571374"/>
          </a:xfrm>
        </p:grpSpPr>
        <p:sp>
          <p:nvSpPr>
            <p:cNvPr id="17" name="Rectángulo: esquinas superiores redondeadas 16">
              <a:extLst>
                <a:ext uri="{FF2B5EF4-FFF2-40B4-BE49-F238E27FC236}">
                  <a16:creationId xmlns:a16="http://schemas.microsoft.com/office/drawing/2014/main" id="{CF21ACF9-43EA-2000-2081-C2ECFE95C21E}"/>
                </a:ext>
              </a:extLst>
            </p:cNvPr>
            <p:cNvSpPr/>
            <p:nvPr/>
          </p:nvSpPr>
          <p:spPr>
            <a:xfrm flipV="1">
              <a:off x="7474260" y="3876348"/>
              <a:ext cx="2923779" cy="1571374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b="1"/>
            </a:p>
          </p:txBody>
        </p:sp>
        <p:sp>
          <p:nvSpPr>
            <p:cNvPr id="24" name="Llaves 23">
              <a:extLst>
                <a:ext uri="{FF2B5EF4-FFF2-40B4-BE49-F238E27FC236}">
                  <a16:creationId xmlns:a16="http://schemas.microsoft.com/office/drawing/2014/main" id="{79E3C112-9E5E-4BEC-EDF6-29F839DF3C7E}"/>
                </a:ext>
              </a:extLst>
            </p:cNvPr>
            <p:cNvSpPr/>
            <p:nvPr/>
          </p:nvSpPr>
          <p:spPr>
            <a:xfrm>
              <a:off x="7973441" y="4048054"/>
              <a:ext cx="1925417" cy="439797"/>
            </a:xfrm>
            <a:prstGeom prst="bracePair">
              <a:avLst>
                <a:gd name="adj" fmla="val 0"/>
              </a:avLst>
            </a:prstGeom>
            <a:ln>
              <a:solidFill>
                <a:srgbClr val="2740CC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  <a:ea typeface="Calibri"/>
                  <a:cs typeface="Calibri"/>
                </a:rPr>
                <a:t>Margarita </a:t>
              </a:r>
              <a:endParaRPr lang="es-CL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ea typeface="Calibri"/>
                <a:cs typeface="Calibri"/>
              </a:endParaRP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9A5B35A-3030-C4C1-CC51-E75C950E6119}"/>
              </a:ext>
            </a:extLst>
          </p:cNvPr>
          <p:cNvSpPr txBox="1"/>
          <p:nvPr/>
        </p:nvSpPr>
        <p:spPr>
          <a:xfrm>
            <a:off x="2799256" y="5468887"/>
            <a:ext cx="21113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740CC"/>
                </a:solidFill>
                <a:latin typeface="Lato" panose="020F0502020204030203" pitchFamily="34" charset="0"/>
                <a:ea typeface="+mn-ea"/>
                <a:cs typeface="+mn-cs"/>
              </a:rPr>
              <a:t>Scrum Master</a:t>
            </a:r>
          </a:p>
          <a:p>
            <a:pPr algn="ctr"/>
            <a:r>
              <a:rPr lang="en-US" sz="2400" dirty="0">
                <a:solidFill>
                  <a:srgbClr val="2740CC"/>
                </a:solidFill>
                <a:latin typeface="Lato" panose="020F0502020204030203" pitchFamily="34" charset="0"/>
                <a:ea typeface="+mn-ea"/>
                <a:cs typeface="+mn-cs"/>
              </a:rPr>
              <a:t>Desarrollador</a:t>
            </a:r>
          </a:p>
        </p:txBody>
      </p:sp>
      <p:pic>
        <p:nvPicPr>
          <p:cNvPr id="7" name="Google Shape;74;p1">
            <a:extLst>
              <a:ext uri="{FF2B5EF4-FFF2-40B4-BE49-F238E27FC236}">
                <a16:creationId xmlns:a16="http://schemas.microsoft.com/office/drawing/2014/main" id="{362BAEF3-481C-79B9-84C6-82F31D2AD69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74" y="84310"/>
            <a:ext cx="2085026" cy="1375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oup 28">
            <a:extLst>
              <a:ext uri="{FF2B5EF4-FFF2-40B4-BE49-F238E27FC236}">
                <a16:creationId xmlns:a16="http://schemas.microsoft.com/office/drawing/2014/main" id="{6DCDBBE5-786B-4546-5864-B8E92DCE22F7}"/>
              </a:ext>
            </a:extLst>
          </p:cNvPr>
          <p:cNvGrpSpPr/>
          <p:nvPr/>
        </p:nvGrpSpPr>
        <p:grpSpPr>
          <a:xfrm>
            <a:off x="6376801" y="4454193"/>
            <a:ext cx="3442631" cy="2105945"/>
            <a:chOff x="7474260" y="3876348"/>
            <a:chExt cx="2923779" cy="1571374"/>
          </a:xfrm>
        </p:grpSpPr>
        <p:sp>
          <p:nvSpPr>
            <p:cNvPr id="9" name="Rectángulo: esquinas superiores redondeadas 8">
              <a:extLst>
                <a:ext uri="{FF2B5EF4-FFF2-40B4-BE49-F238E27FC236}">
                  <a16:creationId xmlns:a16="http://schemas.microsoft.com/office/drawing/2014/main" id="{7FE18735-BAEB-A36C-A65B-591E35DE5A72}"/>
                </a:ext>
              </a:extLst>
            </p:cNvPr>
            <p:cNvSpPr/>
            <p:nvPr/>
          </p:nvSpPr>
          <p:spPr>
            <a:xfrm flipV="1">
              <a:off x="7474260" y="3876348"/>
              <a:ext cx="2923779" cy="1571374"/>
            </a:xfrm>
            <a:prstGeom prst="round2Same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b="1"/>
            </a:p>
          </p:txBody>
        </p:sp>
        <p:sp>
          <p:nvSpPr>
            <p:cNvPr id="12" name="Llaves 11">
              <a:extLst>
                <a:ext uri="{FF2B5EF4-FFF2-40B4-BE49-F238E27FC236}">
                  <a16:creationId xmlns:a16="http://schemas.microsoft.com/office/drawing/2014/main" id="{D42C5069-70EC-EEA4-B4F2-787486E41AA0}"/>
                </a:ext>
              </a:extLst>
            </p:cNvPr>
            <p:cNvSpPr/>
            <p:nvPr/>
          </p:nvSpPr>
          <p:spPr>
            <a:xfrm>
              <a:off x="7973441" y="4048054"/>
              <a:ext cx="1925417" cy="439797"/>
            </a:xfrm>
            <a:prstGeom prst="bracePair">
              <a:avLst>
                <a:gd name="adj" fmla="val 0"/>
              </a:avLst>
            </a:prstGeom>
            <a:ln>
              <a:solidFill>
                <a:srgbClr val="2740CC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MX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ato" panose="020F0502020204030203" pitchFamily="34" charset="0"/>
                  <a:ea typeface="Calibri"/>
                  <a:cs typeface="Calibri"/>
                </a:rPr>
                <a:t>Israel  </a:t>
              </a:r>
              <a:endParaRPr lang="es-CL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0"/>
                <a:ea typeface="Calibri"/>
                <a:cs typeface="Calibri"/>
              </a:endParaRPr>
            </a:p>
          </p:txBody>
        </p:sp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DF11ED-D2D1-6706-0608-6AEDFB2D51C2}"/>
              </a:ext>
            </a:extLst>
          </p:cNvPr>
          <p:cNvSpPr txBox="1"/>
          <p:nvPr/>
        </p:nvSpPr>
        <p:spPr>
          <a:xfrm>
            <a:off x="6807619" y="5527218"/>
            <a:ext cx="25851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740CC"/>
                </a:solidFill>
                <a:latin typeface="Lato" panose="020F0502020204030203" pitchFamily="34" charset="0"/>
                <a:ea typeface="+mn-ea"/>
                <a:cs typeface="+mn-cs"/>
              </a:rPr>
              <a:t>Product Owner</a:t>
            </a:r>
          </a:p>
          <a:p>
            <a:pPr algn="ctr"/>
            <a:r>
              <a:rPr lang="en-US" sz="2400" dirty="0">
                <a:solidFill>
                  <a:srgbClr val="2740CC"/>
                </a:solidFill>
                <a:latin typeface="Lato" panose="020F0502020204030203" pitchFamily="34" charset="0"/>
                <a:ea typeface="+mn-ea"/>
                <a:cs typeface="+mn-cs"/>
              </a:rPr>
              <a:t>Desarrollador</a:t>
            </a:r>
          </a:p>
        </p:txBody>
      </p:sp>
      <p:pic>
        <p:nvPicPr>
          <p:cNvPr id="19" name="Google Shape;81;p8">
            <a:extLst>
              <a:ext uri="{FF2B5EF4-FFF2-40B4-BE49-F238E27FC236}">
                <a16:creationId xmlns:a16="http://schemas.microsoft.com/office/drawing/2014/main" id="{6AFD404D-3D4A-DC01-C7BE-71C3E53B32B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4100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70ECC0ED-92CE-6469-2F7D-1AB8E69D870D}"/>
              </a:ext>
            </a:extLst>
          </p:cNvPr>
          <p:cNvSpPr txBox="1"/>
          <p:nvPr/>
        </p:nvSpPr>
        <p:spPr>
          <a:xfrm>
            <a:off x="595473" y="2912609"/>
            <a:ext cx="10987313" cy="2677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571486" indent="-571486">
              <a:buClr>
                <a:srgbClr val="2A3346"/>
              </a:buClr>
              <a:buSzPct val="100000"/>
              <a:buFont typeface="Arial" panose="020B0604020202020204" pitchFamily="34" charset="0"/>
              <a:buChar char="•"/>
            </a:pPr>
            <a:r>
              <a:rPr lang="es-MX" sz="2800" dirty="0"/>
              <a:t>En la actualidad los condominios se manejan con métodos poco eficientes y transparentes: no hay claridad en cómo se gastan los fondos, la comunicación con los vecinos es desordenada (grupos de WhatsApp), y todo se hace manualmente. Esto genera desconfianza, gastos más altos de lo necesario, y problemas constantes entre administración y residentes.</a:t>
            </a:r>
            <a:endParaRPr lang="es-CL" sz="2800" dirty="0">
              <a:solidFill>
                <a:srgbClr val="2A3346"/>
              </a:solidFill>
              <a:latin typeface="Lato" panose="020F0502020204030203" pitchFamily="34" charset="0"/>
              <a:ea typeface="Calibri"/>
              <a:cs typeface="Calibri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1A78596-D512-90D5-999A-CA7662A9F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002" y="6300001"/>
            <a:ext cx="1276895" cy="31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A95F1E5-2B95-2500-CA51-0839964A7D06}"/>
              </a:ext>
            </a:extLst>
          </p:cNvPr>
          <p:cNvSpPr txBox="1"/>
          <p:nvPr/>
        </p:nvSpPr>
        <p:spPr>
          <a:xfrm>
            <a:off x="0" y="414012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PROBLEMA</a:t>
            </a:r>
          </a:p>
        </p:txBody>
      </p:sp>
      <p:pic>
        <p:nvPicPr>
          <p:cNvPr id="3" name="Google Shape;74;p1">
            <a:extLst>
              <a:ext uri="{FF2B5EF4-FFF2-40B4-BE49-F238E27FC236}">
                <a16:creationId xmlns:a16="http://schemas.microsoft.com/office/drawing/2014/main" id="{BBE9EA60-D830-66B8-A222-27A71D9CBA6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4" y="84310"/>
            <a:ext cx="2085026" cy="1375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1;p8">
            <a:extLst>
              <a:ext uri="{FF2B5EF4-FFF2-40B4-BE49-F238E27FC236}">
                <a16:creationId xmlns:a16="http://schemas.microsoft.com/office/drawing/2014/main" id="{9E7FC109-90CD-39B4-8779-6EBBC06E6EA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0486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B256A-292E-3C85-4B1B-D7E275B7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3677D10-65E4-95EA-F171-3B249836C099}"/>
              </a:ext>
            </a:extLst>
          </p:cNvPr>
          <p:cNvSpPr txBox="1"/>
          <p:nvPr/>
        </p:nvSpPr>
        <p:spPr>
          <a:xfrm>
            <a:off x="737717" y="3331075"/>
            <a:ext cx="2791765" cy="1623699"/>
          </a:xfrm>
          <a:prstGeom prst="roundRect">
            <a:avLst/>
          </a:prstGeom>
          <a:solidFill>
            <a:srgbClr val="9DD5FF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buSzPts val="1800"/>
            </a:pPr>
            <a:r>
              <a:rPr lang="en-US" sz="4000" dirty="0">
                <a:solidFill>
                  <a:srgbClr val="2A3346"/>
                </a:solidFill>
                <a:effectLst/>
              </a:rPr>
              <a:t>Saas</a:t>
            </a:r>
            <a:endParaRPr lang="en-US" sz="4000" dirty="0">
              <a:solidFill>
                <a:srgbClr val="2A3346"/>
              </a:solidFill>
              <a:latin typeface="Lato" panose="020F0502020204030203" pitchFamily="34" charset="0"/>
              <a:ea typeface="Calibri"/>
              <a:cs typeface="Calibri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A2D8CB7-EEEF-F7A4-35F8-49A48F66D523}"/>
              </a:ext>
            </a:extLst>
          </p:cNvPr>
          <p:cNvSpPr txBox="1"/>
          <p:nvPr/>
        </p:nvSpPr>
        <p:spPr>
          <a:xfrm>
            <a:off x="8347247" y="3331075"/>
            <a:ext cx="2908340" cy="1623699"/>
          </a:xfrm>
          <a:prstGeom prst="roundRect">
            <a:avLst/>
          </a:prstGeom>
          <a:solidFill>
            <a:srgbClr val="9DD5FF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lnSpc>
                <a:spcPct val="90000"/>
              </a:lnSpc>
              <a:spcAft>
                <a:spcPts val="600"/>
              </a:spcAft>
              <a:buSzPts val="1800"/>
              <a:defRPr sz="4000">
                <a:solidFill>
                  <a:srgbClr val="2A334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/>
                <a:cs typeface="Calibri"/>
              </a:defRPr>
            </a:lvl1pPr>
          </a:lstStyle>
          <a:p>
            <a:r>
              <a:rPr lang="es-CL" sz="4000" dirty="0">
                <a:solidFill>
                  <a:srgbClr val="2A3346"/>
                </a:solidFill>
                <a:effectLst/>
              </a:rPr>
              <a:t>Eficiencia</a:t>
            </a:r>
            <a:endParaRPr lang="es-CL" dirty="0">
              <a:effectLst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70A7FC2-CEAB-8065-643E-75E48DD8FB3C}"/>
              </a:ext>
            </a:extLst>
          </p:cNvPr>
          <p:cNvSpPr txBox="1"/>
          <p:nvPr/>
        </p:nvSpPr>
        <p:spPr>
          <a:xfrm>
            <a:off x="4036708" y="2788149"/>
            <a:ext cx="3563857" cy="1623699"/>
          </a:xfrm>
          <a:prstGeom prst="roundRect">
            <a:avLst/>
          </a:prstGeom>
          <a:solidFill>
            <a:srgbClr val="9DD5FF"/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  <a:buSzPts val="1800"/>
            </a:pPr>
            <a:r>
              <a:rPr lang="es-CL" sz="4000" b="1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Latha" panose="020B0502040204020203" pitchFamily="34" charset="0"/>
              </a:rPr>
              <a:t>Transparencia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6E2F8B4-B7F9-A3EC-A7CD-2CC1D0F7ABCF}"/>
              </a:ext>
            </a:extLst>
          </p:cNvPr>
          <p:cNvSpPr txBox="1"/>
          <p:nvPr/>
        </p:nvSpPr>
        <p:spPr>
          <a:xfrm>
            <a:off x="-277364" y="772071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SOLUCIÓN</a:t>
            </a:r>
          </a:p>
        </p:txBody>
      </p:sp>
      <p:pic>
        <p:nvPicPr>
          <p:cNvPr id="6" name="Google Shape;74;p1">
            <a:extLst>
              <a:ext uri="{FF2B5EF4-FFF2-40B4-BE49-F238E27FC236}">
                <a16:creationId xmlns:a16="http://schemas.microsoft.com/office/drawing/2014/main" id="{3A167CF8-BA78-D531-E056-9F5D5D47277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4" y="84310"/>
            <a:ext cx="2085026" cy="1375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81;p8">
            <a:extLst>
              <a:ext uri="{FF2B5EF4-FFF2-40B4-BE49-F238E27FC236}">
                <a16:creationId xmlns:a16="http://schemas.microsoft.com/office/drawing/2014/main" id="{2B5C6D5C-8E69-2C6B-89D6-3133D56AF1E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330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10D55D6-D192-6A11-ACE5-970E6BCB4FD5}"/>
              </a:ext>
            </a:extLst>
          </p:cNvPr>
          <p:cNvSpPr txBox="1"/>
          <p:nvPr/>
        </p:nvSpPr>
        <p:spPr>
          <a:xfrm>
            <a:off x="983730" y="2459504"/>
            <a:ext cx="10210800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s-ES" sz="4000" dirty="0">
                <a:solidFill>
                  <a:srgbClr val="2A3346"/>
                </a:solidFill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Crear un sistema web para la </a:t>
            </a:r>
            <a:r>
              <a:rPr lang="es-ES" sz="4000" b="1" dirty="0">
                <a:solidFill>
                  <a:srgbClr val="2A3346"/>
                </a:solidFill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de condominios</a:t>
            </a:r>
            <a:r>
              <a:rPr lang="es-ES" sz="4000" dirty="0">
                <a:solidFill>
                  <a:srgbClr val="2A3346"/>
                </a:solidFill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que facilite la administración operativa y financiera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BE2AF56-4ABD-A2C9-10FD-1D9F11885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002" y="6300001"/>
            <a:ext cx="1276895" cy="315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84313482-9DD7-9895-2508-7FAB54555206}"/>
              </a:ext>
            </a:extLst>
          </p:cNvPr>
          <p:cNvSpPr txBox="1"/>
          <p:nvPr/>
        </p:nvSpPr>
        <p:spPr>
          <a:xfrm>
            <a:off x="-6869" y="354830"/>
            <a:ext cx="12191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 GENERAL</a:t>
            </a:r>
          </a:p>
        </p:txBody>
      </p:sp>
      <p:pic>
        <p:nvPicPr>
          <p:cNvPr id="3" name="Google Shape;81;p8">
            <a:extLst>
              <a:ext uri="{FF2B5EF4-FFF2-40B4-BE49-F238E27FC236}">
                <a16:creationId xmlns:a16="http://schemas.microsoft.com/office/drawing/2014/main" id="{92077864-EB00-10E7-8082-529E44F82E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4;p1">
            <a:extLst>
              <a:ext uri="{FF2B5EF4-FFF2-40B4-BE49-F238E27FC236}">
                <a16:creationId xmlns:a16="http://schemas.microsoft.com/office/drawing/2014/main" id="{BA6A9B69-CD02-AF45-3583-E902DFA7979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74" y="84310"/>
            <a:ext cx="2085026" cy="1375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559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B256A-292E-3C85-4B1B-D7E275B71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4F1C9740-68F3-0B94-FBB4-C9F239173E9C}"/>
              </a:ext>
            </a:extLst>
          </p:cNvPr>
          <p:cNvSpPr txBox="1"/>
          <p:nvPr/>
        </p:nvSpPr>
        <p:spPr>
          <a:xfrm>
            <a:off x="-320842" y="1703277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2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 ESPECÍFICOS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90371CD-03DC-20A4-B162-BD2E1CB6BED5}"/>
              </a:ext>
            </a:extLst>
          </p:cNvPr>
          <p:cNvSpPr txBox="1"/>
          <p:nvPr/>
        </p:nvSpPr>
        <p:spPr>
          <a:xfrm>
            <a:off x="602343" y="3429000"/>
            <a:ext cx="10987313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571486" indent="-571486">
              <a:buClr>
                <a:srgbClr val="2A3346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3000" b="1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Gestionar</a:t>
            </a:r>
            <a:r>
              <a:rPr lang="es-ES" sz="3000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 entidades mediante </a:t>
            </a:r>
            <a:r>
              <a:rPr lang="es-ES" sz="3000" dirty="0" err="1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backend</a:t>
            </a:r>
            <a:r>
              <a:rPr lang="es-ES" sz="3000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 .NET y MySQL.</a:t>
            </a:r>
          </a:p>
          <a:p>
            <a:pPr marL="571486" indent="-571486">
              <a:buClr>
                <a:srgbClr val="2A3346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3000" b="1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Diseñar</a:t>
            </a:r>
            <a:r>
              <a:rPr lang="es-ES" sz="3000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  <a:sym typeface="Calibri"/>
              </a:rPr>
              <a:t> interfaz web intuitiva y responsiva con Angular.</a:t>
            </a:r>
          </a:p>
          <a:p>
            <a:pPr marL="571486" indent="-571486">
              <a:buClr>
                <a:srgbClr val="2A3346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3000" b="1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</a:rPr>
              <a:t>Automatizar</a:t>
            </a:r>
            <a:r>
              <a:rPr lang="es-ES" sz="3000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</a:rPr>
              <a:t> reportes financieros para toma de decisiones.</a:t>
            </a:r>
          </a:p>
          <a:p>
            <a:pPr marL="571486" indent="-571486">
              <a:buClr>
                <a:srgbClr val="2A3346"/>
              </a:buClr>
              <a:buSzPct val="100000"/>
              <a:buFont typeface="Arial" panose="020B0604020202020204" pitchFamily="34" charset="0"/>
              <a:buChar char="•"/>
            </a:pPr>
            <a:r>
              <a:rPr lang="es-ES" sz="3000" b="1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</a:rPr>
              <a:t>Colaborar </a:t>
            </a:r>
            <a:r>
              <a:rPr lang="es-ES" sz="3000" dirty="0">
                <a:solidFill>
                  <a:srgbClr val="2A3346"/>
                </a:solidFill>
                <a:latin typeface="Lato" panose="020F0502020204030203" pitchFamily="34" charset="0"/>
                <a:ea typeface="Calibri"/>
                <a:cs typeface="Calibri"/>
              </a:rPr>
              <a:t>en la creación de código mediante GitHub.</a:t>
            </a:r>
          </a:p>
        </p:txBody>
      </p:sp>
      <p:pic>
        <p:nvPicPr>
          <p:cNvPr id="4" name="Google Shape;74;p1">
            <a:extLst>
              <a:ext uri="{FF2B5EF4-FFF2-40B4-BE49-F238E27FC236}">
                <a16:creationId xmlns:a16="http://schemas.microsoft.com/office/drawing/2014/main" id="{8838C0FF-1812-5EF3-61C7-956D0756443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4" y="84310"/>
            <a:ext cx="2085026" cy="1375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1;p8">
            <a:extLst>
              <a:ext uri="{FF2B5EF4-FFF2-40B4-BE49-F238E27FC236}">
                <a16:creationId xmlns:a16="http://schemas.microsoft.com/office/drawing/2014/main" id="{19CC86EA-FC40-52D3-A0CB-93251C1501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42239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29a77a-4b3b-47ba-9aba-c99d46633df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B0ABF06891AE4BB9823D0C7951D690" ma:contentTypeVersion="8" ma:contentTypeDescription="Crear nuevo documento." ma:contentTypeScope="" ma:versionID="7eb09e5bfbfba9b94ef44956cf1b4ca9">
  <xsd:schema xmlns:xsd="http://www.w3.org/2001/XMLSchema" xmlns:xs="http://www.w3.org/2001/XMLSchema" xmlns:p="http://schemas.microsoft.com/office/2006/metadata/properties" xmlns:ns3="ca29a77a-4b3b-47ba-9aba-c99d46633df7" xmlns:ns4="3d65ddc6-380a-425d-8f41-7fdadc3e4a73" targetNamespace="http://schemas.microsoft.com/office/2006/metadata/properties" ma:root="true" ma:fieldsID="fa15b426246a615fe64bc2373aa610c9" ns3:_="" ns4:_="">
    <xsd:import namespace="ca29a77a-4b3b-47ba-9aba-c99d46633df7"/>
    <xsd:import namespace="3d65ddc6-380a-425d-8f41-7fdadc3e4a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29a77a-4b3b-47ba-9aba-c99d46633d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5ddc6-380a-425d-8f41-7fdadc3e4a73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7666E7-6D19-454E-9162-B32012E85019}">
  <ds:schemaRefs>
    <ds:schemaRef ds:uri="http://schemas.openxmlformats.org/package/2006/metadata/core-properties"/>
    <ds:schemaRef ds:uri="ca29a77a-4b3b-47ba-9aba-c99d46633df7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3d65ddc6-380a-425d-8f41-7fdadc3e4a7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CFFD1A-EC3F-4D66-8355-1320174961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B595600-612E-44FC-A83F-A4AF49E5CB3D}">
  <ds:schemaRefs>
    <ds:schemaRef ds:uri="3d65ddc6-380a-425d-8f41-7fdadc3e4a73"/>
    <ds:schemaRef ds:uri="ca29a77a-4b3b-47ba-9aba-c99d46633d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TM04033923[[fn=Profundidad]]</Template>
  <TotalTime>238</TotalTime>
  <Words>516</Words>
  <Application>Microsoft Office PowerPoint</Application>
  <PresentationFormat>Panorámica</PresentationFormat>
  <Paragraphs>51</Paragraphs>
  <Slides>6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Arial Unicode MS</vt:lpstr>
      <vt:lpstr>Calibri</vt:lpstr>
      <vt:lpstr>Lato</vt:lpstr>
      <vt:lpstr>Lato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Título “Intelificio”</dc:title>
  <dc:creator>Cetecom</dc:creator>
  <cp:lastModifiedBy>ISRAEL MUÑOZ</cp:lastModifiedBy>
  <cp:revision>3</cp:revision>
  <dcterms:modified xsi:type="dcterms:W3CDTF">2025-11-07T18:32:19Z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0x010100E6B0ABF06891AE4BB9823D0C7951D690</vt:lpwstr>
  </property>
  <property fmtid="{D5CDD505-2E9C-101B-9397-08002B2CF9AE}" pid="3" name="MediaServiceImageTags">
    <vt:lpwstr/>
  </property>
</Properties>
</file>