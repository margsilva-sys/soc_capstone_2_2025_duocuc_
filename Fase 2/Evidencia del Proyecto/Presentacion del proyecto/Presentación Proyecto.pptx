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rim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jrz4oWb+vtYSooaVWucXPgVfI2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ARGARITA LUZMIRA SILVA ZUNIGA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18FDDA3-7690-4497-A118-1569C84F282C}">
  <a:tblStyle styleId="{A18FDDA3-7690-4497-A118-1569C84F282C}" styleName="Table_0">
    <a:wholeTbl>
      <a:tcTxStyle b="off" i="off">
        <a:font>
          <a:latin typeface="Arial"/>
          <a:ea typeface="Arial"/>
          <a:cs typeface="Arial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5"/>
          </a:solidFill>
        </a:fill>
      </a:tcStyle>
    </a:wholeTbl>
    <a:band1H>
      <a:tcTxStyle/>
      <a:tcStyle>
        <a:fill>
          <a:solidFill>
            <a:srgbClr val="355A9B"/>
          </a:solidFill>
        </a:fill>
      </a:tcStyle>
    </a:band1H>
    <a:band2H>
      <a:tcTxStyle/>
    </a:band2H>
    <a:band1V>
      <a:tcTxStyle/>
      <a:tcStyle>
        <a:fill>
          <a:solidFill>
            <a:srgbClr val="355A9B"/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</a:tcBdr>
        <a:fill>
          <a:solidFill>
            <a:srgbClr val="355A9B"/>
          </a:solidFill>
        </a:fill>
      </a:tcStyle>
    </a:lastCol>
    <a:firstCol>
      <a:tcTxStyle b="on" i="off"/>
      <a:tcStyle>
        <a:tcBdr>
          <a:right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</a:tcBdr>
        <a:fill>
          <a:solidFill>
            <a:srgbClr val="355A9B"/>
          </a:solidFill>
        </a:fill>
      </a:tcStyle>
    </a:firstCol>
    <a:lastRow>
      <a:tcTxStyle b="on" i="off"/>
      <a:tcStyle>
        <a:tcBdr>
          <a:top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2C4B81"/>
          </a:solidFill>
        </a:fill>
      </a:tcStyle>
    </a:lastRow>
    <a:s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seCell>
    <a:s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swCell>
    <a:firstRow>
      <a:tcTxStyle b="on" i="off"/>
      <a:tcStyle>
        <a:tcBdr>
          <a:bottom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</a:tcBdr>
      </a:tcStyle>
    </a:neCell>
    <a:nwCell>
      <a:tcTxStyle/>
      <a:tcStyle>
        <a:tcBdr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nwCell>
  </a:tblStyle>
  <a:tblStyle styleId="{C151EAA5-D2EA-42B3-9B4F-DC729EE0FBA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Arimo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Arimo-italic.fntdata"/><Relationship Id="rId23" Type="http://schemas.openxmlformats.org/officeDocument/2006/relationships/font" Target="fonts/Arimo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Arim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8-26T03:53:08.811">
    <p:pos x="6000" y="0"/>
    <p:text>“Nuestro sistema SaaS permite a las comunidades automatizar la gestión financiera y administrativa, mejorando la transparencia y cumpliendo con la Ley 21.442, lo que genera mayor satisfacción para residentes y administradores.”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pz3hpj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08-26T03:53:23.872">
    <p:pos x="6000" y="0"/>
    <p:text>“Desarrollar un sistema web eficiente para la gestión operacional, financiera y de recursos humanos en condominios.”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pz3hpjM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08-26T03:54:36.344">
    <p:pos x="6000" y="0"/>
    <p:text>Frontend: React (interfaz moderna y responsiva).
Backend: Node.js (robustez y escalabilidad).
Base de datos: MySQL o PostgreSQL.
Metodología: Scrum.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pz3hpjU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CL" sz="11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rápida proliferación </a:t>
            </a:r>
            <a:r>
              <a:rPr b="1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la industria inmobiliaria y la implementación de la Ley de Copropiedad, sumado a </a:t>
            </a:r>
            <a:r>
              <a:rPr b="1" lang="es-CL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 estabilidad económica del país y el aumento de la demanda de viviendas ha evidenciado la necesidad de sistemas de administración eficientes</a:t>
            </a:r>
            <a:r>
              <a:rPr b="1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s-CL" sz="1100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Una m</a:t>
            </a:r>
            <a:r>
              <a:rPr b="1" i="0" lang="es-CL" sz="1100" u="none" cap="none" strike="noStrike">
                <a:solidFill>
                  <a:srgbClr val="FFC000"/>
                </a:solidFill>
                <a:latin typeface="Calibri"/>
                <a:ea typeface="Calibri"/>
                <a:cs typeface="Calibri"/>
                <a:sym typeface="Calibri"/>
              </a:rPr>
              <a:t>ejora</a:t>
            </a:r>
            <a:r>
              <a:rPr b="1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sobre las actuales propuestas que permita una correcta gestión operacional</a:t>
            </a:r>
            <a:r>
              <a:rPr b="1" lang="es-CL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 financiera.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Eficiencia: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i="0" lang="es-CL">
                <a:solidFill>
                  <a:srgbClr val="008000"/>
                </a:solidFill>
                <a:latin typeface="Arimo"/>
                <a:ea typeface="Arimo"/>
                <a:cs typeface="Arimo"/>
                <a:sym typeface="Arimo"/>
              </a:rPr>
              <a:t>Del lat. </a:t>
            </a:r>
            <a:r>
              <a:rPr b="0" i="1" lang="es-CL">
                <a:solidFill>
                  <a:srgbClr val="008000"/>
                </a:solidFill>
                <a:latin typeface="Arimo"/>
                <a:ea typeface="Arimo"/>
                <a:cs typeface="Arimo"/>
                <a:sym typeface="Arimo"/>
              </a:rPr>
              <a:t>efficientia.</a:t>
            </a:r>
            <a:endParaRPr b="0" i="0">
              <a:solidFill>
                <a:srgbClr val="008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1. </a:t>
            </a:r>
            <a:r>
              <a:rPr b="0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f. Capacidad de disponer de alguien o de algo para conseguir un efecto determinado.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2. </a:t>
            </a:r>
            <a:r>
              <a:rPr b="0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f. Capacidad de lograr los resultados deseados con el mínimo posible de recursos.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>
                <a:solidFill>
                  <a:schemeClr val="lt1"/>
                </a:solidFill>
              </a:rPr>
              <a:t>Solución</a:t>
            </a:r>
            <a:br>
              <a:rPr b="1" lang="es-CL" sz="1800">
                <a:solidFill>
                  <a:schemeClr val="lt1"/>
                </a:solidFill>
              </a:rPr>
            </a:br>
            <a:br>
              <a:rPr b="1" lang="es-CL" sz="1100">
                <a:solidFill>
                  <a:srgbClr val="0F6041"/>
                </a:solidFill>
              </a:rPr>
            </a:br>
            <a:r>
              <a:rPr b="0" lang="es-CL" sz="1100">
                <a:solidFill>
                  <a:srgbClr val="FFC000"/>
                </a:solidFill>
              </a:rPr>
              <a:t>El sistema web Intelificio, </a:t>
            </a:r>
            <a:r>
              <a:rPr b="0" lang="es-CL" sz="1100">
                <a:solidFill>
                  <a:schemeClr val="lt1"/>
                </a:solidFill>
              </a:rPr>
              <a:t>disminuye los tiempos de gestión, </a:t>
            </a:r>
            <a:r>
              <a:rPr b="0" lang="es-CL" sz="1100">
                <a:solidFill>
                  <a:srgbClr val="FFC000"/>
                </a:solidFill>
              </a:rPr>
              <a:t>automatizando el cálculo y cobro de gastos comunes</a:t>
            </a:r>
            <a:r>
              <a:rPr b="0" lang="es-CL" sz="1100">
                <a:solidFill>
                  <a:schemeClr val="lt1"/>
                </a:solidFill>
              </a:rPr>
              <a:t>, brindando transparencia financiera para 	residentes. </a:t>
            </a:r>
            <a:br>
              <a:rPr b="1" lang="es-CL" sz="1100">
                <a:solidFill>
                  <a:schemeClr val="lt1"/>
                </a:solidFill>
              </a:rPr>
            </a:br>
            <a:r>
              <a:rPr b="1" lang="es-CL" sz="1100">
                <a:solidFill>
                  <a:schemeClr val="lt1"/>
                </a:solidFill>
              </a:rPr>
              <a:t>Propuesta de valor:</a:t>
            </a:r>
            <a:r>
              <a:rPr b="0" lang="es-CL" sz="1100">
                <a:solidFill>
                  <a:schemeClr val="lt1"/>
                </a:solidFill>
              </a:rPr>
              <a:t> eficiencia, satisfacción de residentes y cumplimiento de ley 21.442.</a:t>
            </a:r>
            <a:br>
              <a:rPr b="1" lang="es-CL" sz="1100">
                <a:solidFill>
                  <a:schemeClr val="lt1"/>
                </a:solidFill>
              </a:rPr>
            </a:br>
            <a:br>
              <a:rPr b="1" lang="es-CL" sz="1100">
                <a:solidFill>
                  <a:schemeClr val="lt1"/>
                </a:solidFill>
              </a:rPr>
            </a:br>
            <a:r>
              <a:rPr b="1" lang="es-CL">
                <a:solidFill>
                  <a:schemeClr val="lt1"/>
                </a:solidFill>
              </a:rPr>
              <a:t>Objetivo General del Proyecto</a:t>
            </a:r>
            <a:br>
              <a:rPr b="1" lang="es-CL">
                <a:solidFill>
                  <a:schemeClr val="lt1"/>
                </a:solidFill>
              </a:rPr>
            </a:br>
            <a:br>
              <a:rPr b="1" lang="es-CL" sz="1100">
                <a:solidFill>
                  <a:schemeClr val="lt1"/>
                </a:solidFill>
              </a:rPr>
            </a:br>
            <a:r>
              <a:rPr b="0" lang="es-CL" sz="1100">
                <a:solidFill>
                  <a:srgbClr val="FFC000"/>
                </a:solidFill>
              </a:rPr>
              <a:t>Desarrollar un sistema web para administración</a:t>
            </a:r>
            <a:r>
              <a:rPr b="0" lang="es-CL" sz="1100">
                <a:solidFill>
                  <a:schemeClr val="lt1"/>
                </a:solidFill>
              </a:rPr>
              <a:t> de comunidades  de edificios para gestión operacional y financiera. Que permita una </a:t>
            </a:r>
            <a:r>
              <a:rPr b="0" lang="es-CL" sz="1100">
                <a:solidFill>
                  <a:srgbClr val="FFC000"/>
                </a:solidFill>
              </a:rPr>
              <a:t>gestión eficiente </a:t>
            </a:r>
            <a:r>
              <a:rPr b="0" lang="es-CL" sz="1100">
                <a:solidFill>
                  <a:schemeClr val="lt1"/>
                </a:solidFill>
              </a:rPr>
              <a:t>de las comunidades.</a:t>
            </a:r>
            <a:endParaRPr b="0"/>
          </a:p>
        </p:txBody>
      </p:sp>
      <p:sp>
        <p:nvSpPr>
          <p:cNvPr id="85" name="Google Shape;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/>
              <a:t>Eficiencia: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0" i="0" lang="es-CL">
                <a:solidFill>
                  <a:srgbClr val="008000"/>
                </a:solidFill>
                <a:latin typeface="Arimo"/>
                <a:ea typeface="Arimo"/>
                <a:cs typeface="Arimo"/>
                <a:sym typeface="Arimo"/>
              </a:rPr>
              <a:t>Del lat. </a:t>
            </a:r>
            <a:r>
              <a:rPr b="0" i="1" lang="es-CL">
                <a:solidFill>
                  <a:srgbClr val="008000"/>
                </a:solidFill>
                <a:latin typeface="Arimo"/>
                <a:ea typeface="Arimo"/>
                <a:cs typeface="Arimo"/>
                <a:sym typeface="Arimo"/>
              </a:rPr>
              <a:t>efficientia.</a:t>
            </a:r>
            <a:endParaRPr b="0" i="0">
              <a:solidFill>
                <a:srgbClr val="008000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1. </a:t>
            </a:r>
            <a:r>
              <a:rPr b="0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f. Capacidad de disponer de alguien o de algo para conseguir un efecto determinado.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2. </a:t>
            </a:r>
            <a:r>
              <a:rPr b="0" i="0" lang="es-CL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f. Capacidad de lograr los resultados deseados con el mínimo posible de recursos.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>
                <a:solidFill>
                  <a:schemeClr val="lt1"/>
                </a:solidFill>
              </a:rPr>
              <a:t>Solución</a:t>
            </a:r>
            <a:br>
              <a:rPr b="1" lang="es-CL" sz="1800">
                <a:solidFill>
                  <a:schemeClr val="lt1"/>
                </a:solidFill>
              </a:rPr>
            </a:br>
            <a:br>
              <a:rPr b="1" lang="es-CL" sz="1100">
                <a:solidFill>
                  <a:srgbClr val="0F6041"/>
                </a:solidFill>
              </a:rPr>
            </a:br>
            <a:r>
              <a:rPr b="0" lang="es-CL" sz="1100">
                <a:solidFill>
                  <a:srgbClr val="FFC000"/>
                </a:solidFill>
              </a:rPr>
              <a:t>El sistema web Intelificio, </a:t>
            </a:r>
            <a:r>
              <a:rPr b="0" lang="es-CL" sz="1100">
                <a:solidFill>
                  <a:schemeClr val="lt1"/>
                </a:solidFill>
              </a:rPr>
              <a:t>disminuye los tiempos de gestión, </a:t>
            </a:r>
            <a:r>
              <a:rPr b="0" lang="es-CL" sz="1100">
                <a:solidFill>
                  <a:srgbClr val="FFC000"/>
                </a:solidFill>
              </a:rPr>
              <a:t>automatizando el cálculo y cobro de gastos comunes</a:t>
            </a:r>
            <a:r>
              <a:rPr b="0" lang="es-CL" sz="1100">
                <a:solidFill>
                  <a:schemeClr val="lt1"/>
                </a:solidFill>
              </a:rPr>
              <a:t>, brindando transparencia financiera para 	residentes. </a:t>
            </a:r>
            <a:br>
              <a:rPr b="1" lang="es-CL" sz="1100">
                <a:solidFill>
                  <a:schemeClr val="lt1"/>
                </a:solidFill>
              </a:rPr>
            </a:br>
            <a:r>
              <a:rPr b="1" lang="es-CL" sz="1100">
                <a:solidFill>
                  <a:schemeClr val="lt1"/>
                </a:solidFill>
              </a:rPr>
              <a:t>Propuesta de valor:</a:t>
            </a:r>
            <a:r>
              <a:rPr b="0" lang="es-CL" sz="1100">
                <a:solidFill>
                  <a:schemeClr val="lt1"/>
                </a:solidFill>
              </a:rPr>
              <a:t> eficiencia, satisfacción de residentes y cumplimiento de ley 21.442.</a:t>
            </a:r>
            <a:br>
              <a:rPr b="1" lang="es-CL" sz="1100">
                <a:solidFill>
                  <a:schemeClr val="lt1"/>
                </a:solidFill>
              </a:rPr>
            </a:br>
            <a:br>
              <a:rPr b="1" lang="es-CL" sz="1100">
                <a:solidFill>
                  <a:schemeClr val="lt1"/>
                </a:solidFill>
              </a:rPr>
            </a:br>
            <a:r>
              <a:rPr b="1" lang="es-CL">
                <a:solidFill>
                  <a:schemeClr val="lt1"/>
                </a:solidFill>
              </a:rPr>
              <a:t>Objetivo General del Proyecto</a:t>
            </a:r>
            <a:br>
              <a:rPr b="1" lang="es-CL">
                <a:solidFill>
                  <a:schemeClr val="lt1"/>
                </a:solidFill>
              </a:rPr>
            </a:br>
            <a:br>
              <a:rPr b="1" lang="es-CL" sz="1100">
                <a:solidFill>
                  <a:schemeClr val="lt1"/>
                </a:solidFill>
              </a:rPr>
            </a:br>
            <a:r>
              <a:rPr b="0" lang="es-CL" sz="1100">
                <a:solidFill>
                  <a:srgbClr val="FFC000"/>
                </a:solidFill>
              </a:rPr>
              <a:t>Desarrollar un sistema web para administración</a:t>
            </a:r>
            <a:r>
              <a:rPr b="0" lang="es-CL" sz="1100">
                <a:solidFill>
                  <a:schemeClr val="lt1"/>
                </a:solidFill>
              </a:rPr>
              <a:t> de comunidades  de edificios para gestión operacional y financiera. Que permita una </a:t>
            </a:r>
            <a:r>
              <a:rPr b="0" lang="es-CL" sz="1100">
                <a:solidFill>
                  <a:srgbClr val="FFC000"/>
                </a:solidFill>
              </a:rPr>
              <a:t>gestión eficiente </a:t>
            </a:r>
            <a:r>
              <a:rPr b="0" lang="es-CL" sz="1100">
                <a:solidFill>
                  <a:schemeClr val="lt1"/>
                </a:solidFill>
              </a:rPr>
              <a:t>de las comunidades.</a:t>
            </a:r>
            <a:endParaRPr b="0"/>
          </a:p>
        </p:txBody>
      </p:sp>
      <p:sp>
        <p:nvSpPr>
          <p:cNvPr id="99" name="Google Shape;9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1100">
                <a:solidFill>
                  <a:schemeClr val="lt1"/>
                </a:solidFill>
              </a:rPr>
              <a:t>Se utilizará la metodología Ágil Scrum, con la cual se definieron 4 Sprints para lograr el desarrollo de software, Sprint 0 para configuración y creación de diagramas, Sprint 1 para la gestión operacional, sprint 2 y 3 para la gestión financiera.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00">
              <a:solidFill>
                <a:schemeClr val="lt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1100">
                <a:solidFill>
                  <a:schemeClr val="lt1"/>
                </a:solidFill>
              </a:rPr>
              <a:t>Esta metodología resulta especialmente eficaz para la envergadura del proyecto, enfocándose en el valor que entrega la solución.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Calendarización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Distribución de tareas y responsabilidades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EDT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Matriz RACI o RAM</a:t>
            </a:r>
            <a:endParaRPr/>
          </a:p>
        </p:txBody>
      </p:sp>
      <p:sp>
        <p:nvSpPr>
          <p:cNvPr id="135" name="Google Shape;13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Breve descripción de las tecnologías y versiones utilizadas para el desarrollo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Tipo de software a desarrollar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Lenguajes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s-CL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2c6a0f803_0_480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82c6a0f803_0_480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" name="Google Shape;12;g382c6a0f803_0_480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g382c6a0f803_0_4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82c6a0f803_0_485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82c6a0f803_0_485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82c6a0f803_0_485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" name="Google Shape;18;g382c6a0f803_0_48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82c6a0f803_0_490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g382c6a0f803_0_490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82c6a0f803_0_490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82c6a0f803_0_490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g382c6a0f803_0_490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25" name="Google Shape;25;g382c6a0f803_0_4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82c6a0f803_0_497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82c6a0f803_0_49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g382c6a0f803_0_497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0" name="Google Shape;30;g382c6a0f803_0_497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1" name="Google Shape;31;g382c6a0f803_0_4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82c6a0f803_0_503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82c6a0f803_0_50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g382c6a0f803_0_50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82c6a0f803_0_507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82c6a0f803_0_507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g382c6a0f803_0_507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g382c6a0f803_0_5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82c6a0f803_0_512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g382c6a0f803_0_5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82c6a0f803_0_51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82c6a0f803_0_515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g382c6a0f803_0_515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g382c6a0f803_0_515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9" name="Google Shape;49;g382c6a0f803_0_5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2c6a0f803_0_521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82c6a0f803_0_521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g382c6a0f803_0_5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82c6a0f803_0_525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82c6a0f803_0_525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g382c6a0f803_0_5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82c6a0f803_0_5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2c6a0f803_0_53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82c6a0f803_0_53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82c6a0f803_0_53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82c6a0f803_0_53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82c6a0f803_0_53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2c6a0f803_0_47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sz="37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g382c6a0f803_0_47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2c6a0f803_0_4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3" Type="http://schemas.openxmlformats.org/officeDocument/2006/relationships/image" Target="../media/image16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3.xml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5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>
            <p:ph type="ctrTitle"/>
          </p:nvPr>
        </p:nvSpPr>
        <p:spPr>
          <a:xfrm>
            <a:off x="870375" y="12772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s-CL" sz="7200"/>
              <a:t>Portafolio de Título</a:t>
            </a:r>
            <a:br>
              <a:rPr b="1" lang="es-CL" sz="7200"/>
            </a:br>
            <a:endParaRPr b="1" sz="3200">
              <a:solidFill>
                <a:srgbClr val="D0D400"/>
              </a:solidFill>
            </a:endParaRPr>
          </a:p>
        </p:txBody>
      </p:sp>
      <p:sp>
        <p:nvSpPr>
          <p:cNvPr id="71" name="Google Shape;71;p1"/>
          <p:cNvSpPr txBox="1"/>
          <p:nvPr>
            <p:ph idx="1" type="subTitle"/>
          </p:nvPr>
        </p:nvSpPr>
        <p:spPr>
          <a:xfrm>
            <a:off x="4005825" y="2226600"/>
            <a:ext cx="77223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 sz="3200">
              <a:solidFill>
                <a:schemeClr val="dk1"/>
              </a:solidFill>
              <a:highlight>
                <a:schemeClr val="dk1"/>
              </a:highlight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s-CL" sz="3200">
                <a:solidFill>
                  <a:schemeClr val="dk1"/>
                </a:solidFill>
              </a:rPr>
              <a:t>Ingeniería en Informática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2000">
                <a:solidFill>
                  <a:schemeClr val="dk1"/>
                </a:solidFill>
              </a:rPr>
              <a:t>Escuela de Informática y Telecomunicaciones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2000">
                <a:solidFill>
                  <a:schemeClr val="dk1"/>
                </a:solidFill>
              </a:rPr>
              <a:t>Sede Plaza Vespucio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2000">
                <a:solidFill>
                  <a:schemeClr val="dk1"/>
                </a:solidFill>
              </a:rPr>
              <a:t>Docente Instructor de la Asignatura: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1" lang="es-CL" sz="2800">
                <a:solidFill>
                  <a:schemeClr val="dk1"/>
                </a:solidFill>
              </a:rPr>
              <a:t>Marcos Valenzuela Contreras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1" sz="1400">
              <a:solidFill>
                <a:schemeClr val="lt1"/>
              </a:solidFill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2862646" y="5515015"/>
            <a:ext cx="11022900" cy="6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s-C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Integrantes del Equipo: </a:t>
            </a:r>
            <a:r>
              <a:rPr b="1" lang="es-CL" sz="1800">
                <a:solidFill>
                  <a:schemeClr val="dk1"/>
                </a:solidFill>
              </a:rPr>
              <a:t>Margarita Silva - Israel Muñoz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4100" y="1933774"/>
            <a:ext cx="393392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908496" y="622827"/>
            <a:ext cx="1037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5400"/>
              <a:t>Desafíos</a:t>
            </a:r>
            <a:r>
              <a:rPr b="1" lang="es-CL" sz="5400"/>
              <a:t> a superar</a:t>
            </a:r>
            <a:endParaRPr/>
          </a:p>
        </p:txBody>
      </p:sp>
      <p:sp>
        <p:nvSpPr>
          <p:cNvPr id="80" name="Google Shape;80;p8"/>
          <p:cNvSpPr txBox="1"/>
          <p:nvPr/>
        </p:nvSpPr>
        <p:spPr>
          <a:xfrm>
            <a:off x="908496" y="2536468"/>
            <a:ext cx="103749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Mejora sobre las actuales propuestas.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lang="es-CL" sz="3200">
                <a:solidFill>
                  <a:srgbClr val="40404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Expansión acelerada del sector inmobiliario.</a:t>
            </a:r>
            <a:endParaRPr b="1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Implementación de la Ley de Copropiedad.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250" y="4200554"/>
            <a:ext cx="4389750" cy="245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 de una iglesia&#10;&#10;Descripción generada automáticamente con confianza baja" id="87" name="Google Shape;8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0468" y="6063360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1289" y="6072786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110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90" name="Google Shape;9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2931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91" name="Google Shape;91;p3"/>
          <p:cNvPicPr preferRelativeResize="0"/>
          <p:nvPr/>
        </p:nvPicPr>
        <p:blipFill rotWithShape="1">
          <a:blip r:embed="rId4">
            <a:alphaModFix/>
          </a:blip>
          <a:srcRect b="0" l="-8015" r="8015" t="0"/>
          <a:stretch/>
        </p:blipFill>
        <p:spPr>
          <a:xfrm>
            <a:off x="504072" y="6072542"/>
            <a:ext cx="2541532" cy="794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92" name="Google Shape;92;p3"/>
          <p:cNvPicPr preferRelativeResize="0"/>
          <p:nvPr/>
        </p:nvPicPr>
        <p:blipFill rotWithShape="1">
          <a:blip r:embed="rId4">
            <a:alphaModFix/>
          </a:blip>
          <a:srcRect b="0" l="52654" r="8015" t="0"/>
          <a:stretch/>
        </p:blipFill>
        <p:spPr>
          <a:xfrm>
            <a:off x="-6468" y="6072785"/>
            <a:ext cx="999597" cy="79463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 txBox="1"/>
          <p:nvPr/>
        </p:nvSpPr>
        <p:spPr>
          <a:xfrm>
            <a:off x="570533" y="2090192"/>
            <a:ext cx="11041200" cy="1816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444746"/>
                </a:solidFill>
                <a:highlight>
                  <a:srgbClr val="FFFFFF"/>
                </a:highlight>
              </a:rPr>
              <a:t>Nuestro sistema SaaS permite a las comunidades automatizar la gestión financiera y administrativa, mejorando la transparencia y cumpliendo con la Ley 21.442, lo que genera mayor satisfacción para residentes y administradores.</a:t>
            </a:r>
            <a:endParaRPr b="1"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908496" y="622827"/>
            <a:ext cx="1037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98125" y="4507055"/>
            <a:ext cx="4818075" cy="26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 de una iglesia&#10;&#10;Descripción generada automáticamente con confianza baja" id="101" name="Google Shape;10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50468" y="6063360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02" name="Google Shape;1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61289" y="6072786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2110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04" name="Google Shape;1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82931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05" name="Google Shape;105;p11"/>
          <p:cNvPicPr preferRelativeResize="0"/>
          <p:nvPr/>
        </p:nvPicPr>
        <p:blipFill rotWithShape="1">
          <a:blip r:embed="rId4">
            <a:alphaModFix/>
          </a:blip>
          <a:srcRect b="0" l="-8015" r="8015" t="0"/>
          <a:stretch/>
        </p:blipFill>
        <p:spPr>
          <a:xfrm>
            <a:off x="504072" y="6072542"/>
            <a:ext cx="2541532" cy="794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06" name="Google Shape;106;p11"/>
          <p:cNvPicPr preferRelativeResize="0"/>
          <p:nvPr/>
        </p:nvPicPr>
        <p:blipFill rotWithShape="1">
          <a:blip r:embed="rId4">
            <a:alphaModFix/>
          </a:blip>
          <a:srcRect b="0" l="52654" r="8015" t="0"/>
          <a:stretch/>
        </p:blipFill>
        <p:spPr>
          <a:xfrm>
            <a:off x="-6468" y="6072785"/>
            <a:ext cx="999597" cy="79463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1"/>
          <p:cNvSpPr txBox="1"/>
          <p:nvPr/>
        </p:nvSpPr>
        <p:spPr>
          <a:xfrm>
            <a:off x="1533634" y="2507429"/>
            <a:ext cx="8728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444746"/>
                </a:solidFill>
                <a:highlight>
                  <a:srgbClr val="FFFFFF"/>
                </a:highlight>
              </a:rPr>
              <a:t>Desarrollar un sistema web eficiente para la gestión operacional, financiera y de recursos humanos en condominios</a:t>
            </a:r>
            <a:r>
              <a:rPr lang="es-CL" sz="1050">
                <a:solidFill>
                  <a:srgbClr val="444746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>
            <a:off x="908496" y="622827"/>
            <a:ext cx="1037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 del Proyecto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9150" y="4048204"/>
            <a:ext cx="2929613" cy="27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838189" y="1799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5400"/>
              <a:t>Alcances</a:t>
            </a:r>
            <a:endParaRPr b="1" sz="5400"/>
          </a:p>
        </p:txBody>
      </p:sp>
      <p:graphicFrame>
        <p:nvGraphicFramePr>
          <p:cNvPr id="116" name="Google Shape;116;p4"/>
          <p:cNvGraphicFramePr/>
          <p:nvPr/>
        </p:nvGraphicFramePr>
        <p:xfrm>
          <a:off x="1585014" y="193745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{A18FDDA3-7690-4497-A118-1569C84F282C}</a:tableStyleId>
              </a:tblPr>
              <a:tblGrid>
                <a:gridCol w="2072025"/>
                <a:gridCol w="2004750"/>
                <a:gridCol w="2032000"/>
                <a:gridCol w="2032000"/>
              </a:tblGrid>
              <a:tr h="37085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QUÉ HACE EL SISTEMA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Gestión operacional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Gestión financiera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s-CL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Gestión de RRHH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Informes</a:t>
                      </a:r>
                      <a:endParaRPr b="1"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comunidades, torres, unidades.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Registro de Ingresos y Egresos.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Trabajadores.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Generación de </a:t>
                      </a:r>
                      <a:r>
                        <a:rPr b="1" lang="es-CL" sz="1200">
                          <a:solidFill>
                            <a:schemeClr val="dk1"/>
                          </a:solidFill>
                        </a:rPr>
                        <a:t>informe</a:t>
                      </a: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Creación de usuarios y asignación a comunidad.</a:t>
                      </a:r>
                      <a:endParaRPr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Registrar y gestionar pagos de gastos comunes.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Planificación de turnos.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Dashboard con indicadores y detalle.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Administración de Espacios comunes.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Realizar seguimiento de morosidad.</a:t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asistencia de trabajadores.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Registro de visitas.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Google Shape;117;p4"/>
          <p:cNvGraphicFramePr/>
          <p:nvPr/>
        </p:nvGraphicFramePr>
        <p:xfrm>
          <a:off x="3407512" y="532330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{A18FDDA3-7690-4497-A118-1569C84F282C}</a:tableStyleId>
              </a:tblPr>
              <a:tblGrid>
                <a:gridCol w="2360250"/>
                <a:gridCol w="2360250"/>
              </a:tblGrid>
              <a:tr h="3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QUÉ NO HACE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RESTRICCIONES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Mensajería (chat) entre usuarios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s-CL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Integración con Previred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Gestión</a:t>
                      </a: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 de insumos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8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CL">
                          <a:solidFill>
                            <a:schemeClr val="dk1"/>
                          </a:solidFill>
                        </a:rPr>
                        <a:t>Monitoreo de seguridad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8" name="Google Shape;11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/>
        </p:nvSpPr>
        <p:spPr>
          <a:xfrm>
            <a:off x="3520726" y="1884400"/>
            <a:ext cx="59505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usuarios.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comunidades.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unidades.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ingresos.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egresos.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Cálculo de gastos comunes.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Accesibilidad multiplataforma.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Pago electrónico.</a:t>
            </a:r>
            <a:endParaRPr b="1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38189" y="17996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5400">
              <a:solidFill>
                <a:schemeClr val="dk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5400">
                <a:solidFill>
                  <a:schemeClr val="lt1"/>
                </a:solidFill>
                <a:highlight>
                  <a:schemeClr val="dk1"/>
                </a:highlight>
                <a:latin typeface="Calibri"/>
                <a:ea typeface="Calibri"/>
                <a:cs typeface="Calibri"/>
                <a:sym typeface="Calibri"/>
              </a:rPr>
              <a:t>Epicas</a:t>
            </a:r>
            <a:endParaRPr b="0" i="0" sz="5400" u="none" cap="none" strike="noStrike">
              <a:solidFill>
                <a:schemeClr val="lt1"/>
              </a:solidFill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987939" y="1762645"/>
            <a:ext cx="10515600" cy="35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0 Configuración y creación de diagramas.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1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lang="es-CL" sz="2400">
                <a:solidFill>
                  <a:schemeClr val="dk1"/>
                </a:solidFill>
              </a:rPr>
              <a:t> operacional. 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2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lang="es-CL" sz="2400">
                <a:solidFill>
                  <a:schemeClr val="dk1"/>
                </a:solidFill>
              </a:rPr>
              <a:t> financiera.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3 </a:t>
            </a:r>
            <a:r>
              <a:rPr b="1" lang="es-CL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Administración</a:t>
            </a:r>
            <a:r>
              <a:rPr b="1" lang="es-CL" sz="2400">
                <a:solidFill>
                  <a:schemeClr val="dk1"/>
                </a:solidFill>
              </a:rPr>
              <a:t> de personal.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4 Informes</a:t>
            </a:r>
            <a:endParaRPr>
              <a:solidFill>
                <a:schemeClr val="dk1"/>
              </a:solidFill>
            </a:endParaRPr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s-CL" sz="2400">
                <a:solidFill>
                  <a:schemeClr val="dk1"/>
                </a:solidFill>
              </a:rPr>
              <a:t>	Sprint 5 Documentación cierre proyecto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38189" y="179961"/>
            <a:ext cx="10515600" cy="1325563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s-CL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</a:t>
            </a:r>
            <a:r>
              <a:rPr b="1" i="0" lang="es-C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Metodología Scrum</a:t>
            </a:r>
            <a:endParaRPr b="0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en blanco y negro de una iglesia&#10;&#10;Descripción generada automáticamente con confianza baja"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50468" y="6063360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38" name="Google Shape;1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61289" y="6072786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2110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40" name="Google Shape;14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2931" y="6081966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41" name="Google Shape;141;p12"/>
          <p:cNvPicPr preferRelativeResize="0"/>
          <p:nvPr/>
        </p:nvPicPr>
        <p:blipFill rotWithShape="1">
          <a:blip r:embed="rId3">
            <a:alphaModFix/>
          </a:blip>
          <a:srcRect b="0" l="-8015" r="8015" t="0"/>
          <a:stretch/>
        </p:blipFill>
        <p:spPr>
          <a:xfrm>
            <a:off x="504072" y="6081723"/>
            <a:ext cx="2541532" cy="794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52654" r="8015" t="0"/>
          <a:stretch/>
        </p:blipFill>
        <p:spPr>
          <a:xfrm>
            <a:off x="-6468" y="6081966"/>
            <a:ext cx="999597" cy="794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2"/>
          <p:cNvGraphicFramePr/>
          <p:nvPr/>
        </p:nvGraphicFramePr>
        <p:xfrm>
          <a:off x="7082226" y="320370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{C151EAA5-D2EA-42B3-9B4F-DC729EE0FBAC}</a:tableStyleId>
              </a:tblPr>
              <a:tblGrid>
                <a:gridCol w="3258850"/>
                <a:gridCol w="1189625"/>
              </a:tblGrid>
              <a:tr h="26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Productor Owner / </a:t>
                      </a:r>
                      <a:r>
                        <a:rPr b="1" lang="es-CL" sz="1800"/>
                        <a:t>desarrollador 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/>
                        <a:t>Israel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  <a:tr h="264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Master / </a:t>
                      </a:r>
                      <a:r>
                        <a:rPr b="1" lang="es-CL" sz="1800"/>
                        <a:t>desarrollador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s-CL" sz="1800"/>
                        <a:t>Margarita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  <p:sp>
        <p:nvSpPr>
          <p:cNvPr id="144" name="Google Shape;144;p12"/>
          <p:cNvSpPr txBox="1"/>
          <p:nvPr/>
        </p:nvSpPr>
        <p:spPr>
          <a:xfrm>
            <a:off x="908496" y="622827"/>
            <a:ext cx="1037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i="0" lang="es-C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4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100790"/>
            <a:ext cx="6520705" cy="3819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/>
          <p:nvPr/>
        </p:nvSpPr>
        <p:spPr>
          <a:xfrm>
            <a:off x="241914" y="4980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s-CL" sz="5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Estimación de Riesgos preliminar</a:t>
            </a:r>
            <a:endParaRPr b="1" i="0" sz="5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2" name="Google Shape;152;p13"/>
          <p:cNvGraphicFramePr/>
          <p:nvPr/>
        </p:nvGraphicFramePr>
        <p:xfrm>
          <a:off x="536010" y="2002852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{A18FDDA3-7690-4497-A118-1569C84F282C}</a:tableStyleId>
              </a:tblPr>
              <a:tblGrid>
                <a:gridCol w="595900"/>
                <a:gridCol w="2571825"/>
                <a:gridCol w="1448575"/>
                <a:gridCol w="926750"/>
                <a:gridCol w="3289275"/>
                <a:gridCol w="2101375"/>
              </a:tblGrid>
              <a:tr h="213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ID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Descripción del Riesgo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Tipo de Riesgo 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Magnitud</a:t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Impacto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8290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400" u="none" cap="none" strike="noStrike">
                          <a:solidFill>
                            <a:schemeClr val="dk1"/>
                          </a:solidFill>
                        </a:rPr>
                        <a:t>Medidas de Mitigación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Enfermedad o accidente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Humano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Alta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Retraso prolongado en plazos de entrega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Redistribución de labores 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2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Falla de dispositivo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Tecnológico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Media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Retraso medio en plazos de entrega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Uso de fondo de reserva para compra de dispositivos nuevos.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Error en Diagrama de Arquitectura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Técnico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Baja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Leve retraso para replantear arquitectura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Reunión específica para corrección.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Ataque de Ciberseguridad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Tecnológico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Alta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Posible impacto total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Aislar el componente afectado.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Integraciones con sistemas externos desconocidos.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Tecnológico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6576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Posible incompatibilidad 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Consultar documentación y recurrir a la ayuda externa.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Desconocimiento de la tecnología base del proyecto.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Humano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Media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Retraso en el desarrollo 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Consultar documentación y solicitar apoyo académico. 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Estimación inadecuada del tiempo de ejecución.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Tecnológico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Media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Demora en desarrollo y sobrecarga laboral.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Re-estimar las labores para el próximo sprint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solidFill>
                            <a:schemeClr val="dk1"/>
                          </a:solidFill>
                        </a:rPr>
                        <a:t>Catástrofes</a:t>
                      </a:r>
                      <a:r>
                        <a:rPr b="1" lang="es-CL" sz="1200">
                          <a:solidFill>
                            <a:schemeClr val="dk1"/>
                          </a:solidFill>
                        </a:rPr>
                        <a:t> naturales 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Natural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Baja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Interrupción momentánea de labores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8290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Realizar evacuación y plan de acción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64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Incendio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492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Natural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Alta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444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Interrupción prolongada de labores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382905" rtl="0" algn="ctr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 u="none" cap="none" strike="noStrike">
                          <a:solidFill>
                            <a:schemeClr val="dk1"/>
                          </a:solidFill>
                        </a:rPr>
                        <a:t>Realizar evacuación. Renovación hardware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38325" marL="383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53" name="Google Shape;15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" y="8631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s-CL" sz="5400">
                <a:solidFill>
                  <a:schemeClr val="lt1"/>
                </a:solidFill>
              </a:rPr>
              <a:t>Tecnologías </a:t>
            </a:r>
            <a:r>
              <a:rPr b="1" lang="es-CL" sz="5400"/>
              <a:t>para el</a:t>
            </a:r>
            <a:r>
              <a:rPr b="1" lang="es-CL" sz="5400">
                <a:solidFill>
                  <a:schemeClr val="lt1"/>
                </a:solidFill>
              </a:rPr>
              <a:t> Desarrollo</a:t>
            </a:r>
            <a:endParaRPr b="1" sz="5400">
              <a:solidFill>
                <a:schemeClr val="lt1"/>
              </a:solidFill>
            </a:endParaRPr>
          </a:p>
        </p:txBody>
      </p:sp>
      <p:pic>
        <p:nvPicPr>
          <p:cNvPr id="159" name="Google Shape;1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5704" y="2064162"/>
            <a:ext cx="1205602" cy="12056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nombre de la empresa&#10;&#10;Descripción generada automáticamente" id="160" name="Google Shape;1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29570" y="1795427"/>
            <a:ext cx="1292236" cy="12922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taza, café, tabla, teclado&#10;&#10;Descripción generada automáticamente" id="161" name="Google Shape;16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1644" y="3663102"/>
            <a:ext cx="1363761" cy="13637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162" name="Google Shape;16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6690" y="3690624"/>
            <a:ext cx="1330860" cy="118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08473" y="3742186"/>
            <a:ext cx="1205601" cy="120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 con confianza baja"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099546" y="5757012"/>
            <a:ext cx="2365154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, Icono&#10;&#10;Descripción generada automáticamente" id="165" name="Google Shape;16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7965" y="4338699"/>
            <a:ext cx="1967819" cy="688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66" name="Google Shape;16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50468" y="6063360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67" name="Google Shape;16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61289" y="6072786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68" name="Google Shape;16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72110" y="6072785"/>
            <a:ext cx="2541532" cy="794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69" name="Google Shape;169;p16"/>
          <p:cNvPicPr preferRelativeResize="0"/>
          <p:nvPr/>
        </p:nvPicPr>
        <p:blipFill rotWithShape="1">
          <a:blip r:embed="rId11">
            <a:alphaModFix/>
          </a:blip>
          <a:srcRect b="0" l="-8015" r="8015" t="0"/>
          <a:stretch/>
        </p:blipFill>
        <p:spPr>
          <a:xfrm>
            <a:off x="504072" y="6072542"/>
            <a:ext cx="2541532" cy="794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en blanco y negro de una iglesia&#10;&#10;Descripción generada automáticamente con confianza baja" id="170" name="Google Shape;170;p16"/>
          <p:cNvPicPr preferRelativeResize="0"/>
          <p:nvPr/>
        </p:nvPicPr>
        <p:blipFill rotWithShape="1">
          <a:blip r:embed="rId11">
            <a:alphaModFix/>
          </a:blip>
          <a:srcRect b="0" l="52654" r="8015" t="0"/>
          <a:stretch/>
        </p:blipFill>
        <p:spPr>
          <a:xfrm>
            <a:off x="-6047" y="6063361"/>
            <a:ext cx="999597" cy="79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04074" y="1795434"/>
            <a:ext cx="261937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14081" y="5174459"/>
            <a:ext cx="2560241" cy="159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3"/>
          <p:cNvSpPr txBox="1"/>
          <p:nvPr>
            <p:ph type="ctrTitle"/>
          </p:nvPr>
        </p:nvSpPr>
        <p:spPr>
          <a:xfrm>
            <a:off x="770500" y="1029250"/>
            <a:ext cx="10364100" cy="139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8888"/>
              <a:buFont typeface="Calibri"/>
              <a:buNone/>
            </a:pPr>
            <a:r>
              <a:rPr b="1" lang="es-CL">
                <a:solidFill>
                  <a:schemeClr val="lt1"/>
                </a:solidFill>
              </a:rPr>
              <a:t>Sistema Web </a:t>
            </a:r>
            <a:br>
              <a:rPr b="1" lang="es-CL">
                <a:solidFill>
                  <a:schemeClr val="lt1"/>
                </a:solidFill>
              </a:rPr>
            </a:br>
            <a:r>
              <a:rPr b="1" lang="es-CL">
                <a:solidFill>
                  <a:schemeClr val="lt1"/>
                </a:solidFill>
              </a:rPr>
              <a:t>Administración de condominios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9175" y="0"/>
            <a:ext cx="1872825" cy="176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5150" y="1287699"/>
            <a:ext cx="3933920" cy="238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Cetecom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0x010100E6B0ABF06891AE4BB9823D0C7951D690</vt:lpwstr>
  </property>
  <property fmtid="{D5CDD505-2E9C-101B-9397-08002B2CF9AE}" pid="3" name="MediaServiceImageTags">
    <vt:lpwstr/>
  </property>
</Properties>
</file>